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</p:sldMasterIdLst>
  <p:sldIdLst>
    <p:sldId id="258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14" autoAdjust="0"/>
    <p:restoredTop sz="94660"/>
  </p:normalViewPr>
  <p:slideViewPr>
    <p:cSldViewPr snapToGrid="0">
      <p:cViewPr>
        <p:scale>
          <a:sx n="100" d="100"/>
          <a:sy n="100" d="100"/>
        </p:scale>
        <p:origin x="260" y="-11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2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3657600" y="6538913"/>
            <a:ext cx="1622560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©"/>
              <a:defRPr/>
            </a:pPr>
            <a:r>
              <a:rPr lang="en-US" sz="700">
                <a:solidFill>
                  <a:srgbClr val="000000"/>
                </a:solidFill>
              </a:rPr>
              <a:t> 2015 Eaton. All Rights Reserved.</a:t>
            </a:r>
            <a:r>
              <a:rPr lang="en-US" sz="70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381000" y="0"/>
            <a:ext cx="8763000" cy="5715000"/>
          </a:xfrm>
          <a:prstGeom prst="rect">
            <a:avLst/>
          </a:prstGeom>
          <a:noFill/>
          <a:ln w="3175" algn="ctr">
            <a:solidFill>
              <a:srgbClr val="B2B2B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</a:pPr>
            <a:endParaRPr lang="en-US" sz="1600">
              <a:solidFill>
                <a:srgbClr val="000000"/>
              </a:solidFill>
            </a:endParaRPr>
          </a:p>
        </p:txBody>
      </p:sp>
      <p:pic>
        <p:nvPicPr>
          <p:cNvPr id="6" name="Picture 13" descr="Eaton - white background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5970588"/>
            <a:ext cx="1905000" cy="887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206500" y="152400"/>
            <a:ext cx="7924800" cy="990600"/>
          </a:xfrm>
        </p:spPr>
        <p:txBody>
          <a:bodyPr anchor="ctr"/>
          <a:lstStyle>
            <a:lvl1pPr>
              <a:defRPr sz="2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29055256"/>
      </p:ext>
    </p:extLst>
  </p:cSld>
  <p:clrMapOvr>
    <a:masterClrMapping/>
  </p:clrMapOvr>
  <p:transition spd="med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_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3657600" y="6538913"/>
            <a:ext cx="1622560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©"/>
              <a:defRPr/>
            </a:pPr>
            <a:r>
              <a:rPr lang="en-US" sz="700">
                <a:solidFill>
                  <a:srgbClr val="000000"/>
                </a:solidFill>
              </a:rPr>
              <a:t> 2015 Eaton. All Rights Reserved.</a:t>
            </a:r>
            <a:r>
              <a:rPr lang="en-US" sz="70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381000" y="0"/>
            <a:ext cx="8763000" cy="3200400"/>
          </a:xfrm>
          <a:prstGeom prst="rect">
            <a:avLst/>
          </a:prstGeom>
          <a:noFill/>
          <a:ln w="3175" algn="ctr">
            <a:solidFill>
              <a:srgbClr val="B2B2B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</a:pPr>
            <a:endParaRPr lang="en-US" sz="1600">
              <a:solidFill>
                <a:srgbClr val="000000"/>
              </a:solidFill>
            </a:endParaRPr>
          </a:p>
        </p:txBody>
      </p:sp>
      <p:pic>
        <p:nvPicPr>
          <p:cNvPr id="6" name="Picture 13" descr="Eaton - white background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5970588"/>
            <a:ext cx="1905000" cy="887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838200" y="3200400"/>
            <a:ext cx="7924800" cy="1143000"/>
          </a:xfrm>
        </p:spPr>
        <p:txBody>
          <a:bodyPr anchor="ctr"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38200" y="4783138"/>
            <a:ext cx="6024563" cy="1027112"/>
          </a:xfrm>
        </p:spPr>
        <p:txBody>
          <a:bodyPr/>
          <a:lstStyle>
            <a:lvl1pPr marL="0" indent="0">
              <a:buFontTx/>
              <a:buNone/>
              <a:defRPr sz="1600">
                <a:solidFill>
                  <a:srgbClr val="0067C6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71010727"/>
      </p:ext>
    </p:extLst>
  </p:cSld>
  <p:clrMapOvr>
    <a:masterClrMapping/>
  </p:clrMapOvr>
  <p:transition spd="med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pactfu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3657600" y="6538913"/>
            <a:ext cx="1622560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©"/>
              <a:defRPr/>
            </a:pPr>
            <a:r>
              <a:rPr lang="en-US" sz="700">
                <a:solidFill>
                  <a:srgbClr val="000000"/>
                </a:solidFill>
              </a:rPr>
              <a:t> 2015 Eaton. All Rights Reserved.</a:t>
            </a:r>
            <a:r>
              <a:rPr lang="en-US" sz="70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2" name="Rectangle 1"/>
          <p:cNvSpPr/>
          <p:nvPr userDrawn="1"/>
        </p:nvSpPr>
        <p:spPr bwMode="auto">
          <a:xfrm>
            <a:off x="381000" y="0"/>
            <a:ext cx="8763000" cy="57150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</a:pPr>
            <a:endParaRPr lang="en-US" sz="1600">
              <a:solidFill>
                <a:srgbClr val="000000"/>
              </a:solidFill>
            </a:endParaRPr>
          </a:p>
        </p:txBody>
      </p:sp>
      <p:pic>
        <p:nvPicPr>
          <p:cNvPr id="8" name="Picture 13" descr="Eaton - white background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7089"/>
          <a:stretch/>
        </p:blipFill>
        <p:spPr bwMode="auto">
          <a:xfrm>
            <a:off x="762000" y="6324600"/>
            <a:ext cx="1232421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5"/>
          <p:cNvSpPr>
            <a:spLocks noChangeArrowheads="1"/>
          </p:cNvSpPr>
          <p:nvPr userDrawn="1"/>
        </p:nvSpPr>
        <p:spPr bwMode="auto">
          <a:xfrm>
            <a:off x="6705600" y="655320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43DBA627-09D6-4F6C-921A-2B5A1E4AADE1}" type="slidenum">
              <a:rPr lang="en-US" sz="900">
                <a:solidFill>
                  <a:srgbClr val="0C86F4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900">
              <a:solidFill>
                <a:srgbClr val="0C86F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6715607"/>
      </p:ext>
    </p:extLst>
  </p:cSld>
  <p:clrMapOvr>
    <a:masterClrMapping/>
  </p:clrMapOvr>
  <p:transition spd="med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53850779"/>
      </p:ext>
    </p:extLst>
  </p:cSld>
  <p:clrMapOvr>
    <a:masterClrMapping/>
  </p:clrMapOvr>
  <p:transition spd="med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9788" y="1552575"/>
            <a:ext cx="3884612" cy="4695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552575"/>
            <a:ext cx="3886200" cy="4695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0465372"/>
      </p:ext>
    </p:extLst>
  </p:cSld>
  <p:clrMapOvr>
    <a:masterClrMapping/>
  </p:clrMapOvr>
  <p:transition spd="med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062436"/>
      </p:ext>
    </p:extLst>
  </p:cSld>
  <p:clrMapOvr>
    <a:masterClrMapping/>
  </p:clrMapOvr>
  <p:transition spd="med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9788" y="1552575"/>
            <a:ext cx="4189412" cy="4695825"/>
          </a:xfrm>
        </p:spPr>
        <p:txBody>
          <a:bodyPr/>
          <a:lstStyle>
            <a:lvl1pPr marL="457200" indent="-457200">
              <a:buFont typeface="Arial" pitchFamily="34" charset="0"/>
              <a:buChar char="•"/>
              <a:defRPr/>
            </a:lvl1pPr>
          </a:lstStyle>
          <a:p>
            <a:pPr lvl="0"/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5105400" y="1552575"/>
            <a:ext cx="3657600" cy="23622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1"/>
          </p:nvPr>
        </p:nvSpPr>
        <p:spPr>
          <a:xfrm>
            <a:off x="5105400" y="3962400"/>
            <a:ext cx="3657600" cy="2286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290880"/>
      </p:ext>
    </p:extLst>
  </p:cSld>
  <p:clrMapOvr>
    <a:masterClrMapping/>
  </p:clrMapOvr>
  <p:transition spd="med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838200" y="2286000"/>
            <a:ext cx="7924800" cy="35814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38200" y="1447800"/>
            <a:ext cx="7924800" cy="609600"/>
          </a:xfrm>
        </p:spPr>
        <p:txBody>
          <a:bodyPr/>
          <a:lstStyle>
            <a:lvl1pPr marL="0" indent="0">
              <a:buNone/>
              <a:defRPr sz="2400" b="1"/>
            </a:lvl1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516128"/>
      </p:ext>
    </p:extLst>
  </p:cSld>
  <p:clrMapOvr>
    <a:masterClrMapping/>
  </p:clrMapOvr>
  <p:transition spd="med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04335311"/>
      </p:ext>
    </p:extLst>
  </p:cSld>
  <p:clrMapOvr>
    <a:masterClrMapping/>
  </p:clrMapOvr>
  <p:transition spd="med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0155914"/>
      </p:ext>
    </p:extLst>
  </p:cSld>
  <p:clrMapOvr>
    <a:masterClrMapping/>
  </p:clrMapOvr>
  <p:transition spd="med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3657600" y="6538913"/>
            <a:ext cx="1622560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©"/>
              <a:defRPr/>
            </a:pPr>
            <a:r>
              <a:rPr lang="en-US" sz="700">
                <a:solidFill>
                  <a:srgbClr val="000000"/>
                </a:solidFill>
              </a:rPr>
              <a:t> 2014 Eaton. All Rights Reserved.</a:t>
            </a:r>
            <a:r>
              <a:rPr lang="en-US" sz="70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2" name="Rectangle 1"/>
          <p:cNvSpPr/>
          <p:nvPr userDrawn="1"/>
        </p:nvSpPr>
        <p:spPr bwMode="auto">
          <a:xfrm>
            <a:off x="381000" y="0"/>
            <a:ext cx="8763000" cy="57150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</a:pPr>
            <a:endParaRPr lang="en-US" sz="1600">
              <a:solidFill>
                <a:srgbClr val="000000"/>
              </a:solidFill>
            </a:endParaRPr>
          </a:p>
        </p:txBody>
      </p:sp>
      <p:pic>
        <p:nvPicPr>
          <p:cNvPr id="8" name="Picture 13" descr="Eaton - white background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7089"/>
          <a:stretch/>
        </p:blipFill>
        <p:spPr bwMode="auto">
          <a:xfrm>
            <a:off x="762000" y="6324600"/>
            <a:ext cx="1232421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5"/>
          <p:cNvSpPr>
            <a:spLocks noChangeArrowheads="1"/>
          </p:cNvSpPr>
          <p:nvPr userDrawn="1"/>
        </p:nvSpPr>
        <p:spPr bwMode="auto">
          <a:xfrm>
            <a:off x="6705600" y="655320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43DBA627-09D6-4F6C-921A-2B5A1E4AADE1}" type="slidenum">
              <a:rPr lang="en-US" sz="900">
                <a:solidFill>
                  <a:srgbClr val="0C86F4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900">
              <a:solidFill>
                <a:srgbClr val="0C86F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7515823"/>
      </p:ext>
    </p:extLst>
  </p:cSld>
  <p:clrMapOvr>
    <a:masterClrMapping/>
  </p:clrMapOvr>
  <p:transition spd="med">
    <p:wipe dir="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3657600" y="6538913"/>
            <a:ext cx="1596912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©"/>
              <a:defRPr/>
            </a:pPr>
            <a:r>
              <a:rPr lang="en-US" sz="700">
                <a:solidFill>
                  <a:srgbClr val="000000"/>
                </a:solidFill>
              </a:rPr>
              <a:t> 2016 Eaton. All Rights Reserved.</a:t>
            </a: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381000" y="0"/>
            <a:ext cx="8763000" cy="3200400"/>
          </a:xfrm>
          <a:prstGeom prst="rect">
            <a:avLst/>
          </a:prstGeom>
          <a:noFill/>
          <a:ln w="3175" algn="ctr">
            <a:solidFill>
              <a:srgbClr val="B2B2B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</a:pPr>
            <a:endParaRPr lang="en-US" sz="1600">
              <a:solidFill>
                <a:srgbClr val="000000"/>
              </a:solidFill>
            </a:endParaRPr>
          </a:p>
        </p:txBody>
      </p:sp>
      <p:pic>
        <p:nvPicPr>
          <p:cNvPr id="6" name="Picture 13" descr="Eaton - white background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5800" y="5970588"/>
            <a:ext cx="1905000" cy="887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838200" y="3200400"/>
            <a:ext cx="7924800" cy="1143000"/>
          </a:xfrm>
        </p:spPr>
        <p:txBody>
          <a:bodyPr anchor="ctr"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38200" y="4783138"/>
            <a:ext cx="6024563" cy="1027112"/>
          </a:xfrm>
        </p:spPr>
        <p:txBody>
          <a:bodyPr/>
          <a:lstStyle>
            <a:lvl1pPr marL="0" indent="0">
              <a:buFontTx/>
              <a:buNone/>
              <a:defRPr sz="1600">
                <a:solidFill>
                  <a:srgbClr val="0067C6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78999168"/>
      </p:ext>
    </p:extLst>
  </p:cSld>
  <p:clrMapOvr>
    <a:masterClrMapping/>
  </p:clrMapOvr>
  <p:transition spd="med">
    <p:wipe dir="d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9826408"/>
      </p:ext>
    </p:extLst>
  </p:cSld>
  <p:clrMapOvr>
    <a:masterClrMapping/>
  </p:clrMapOvr>
  <p:transition spd="med">
    <p:wipe dir="d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9788" y="1552575"/>
            <a:ext cx="3884612" cy="4695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552575"/>
            <a:ext cx="3886200" cy="4695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69384744"/>
      </p:ext>
    </p:extLst>
  </p:cSld>
  <p:clrMapOvr>
    <a:masterClrMapping/>
  </p:clrMapOvr>
  <p:transition spd="med">
    <p:wipe dir="d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867212"/>
      </p:ext>
    </p:extLst>
  </p:cSld>
  <p:clrMapOvr>
    <a:masterClrMapping/>
  </p:clrMapOvr>
  <p:transition spd="med">
    <p:wipe dir="d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9788" y="1552575"/>
            <a:ext cx="4189412" cy="4695825"/>
          </a:xfrm>
        </p:spPr>
        <p:txBody>
          <a:bodyPr/>
          <a:lstStyle>
            <a:lvl1pPr marL="457200" indent="-457200">
              <a:buFont typeface="Arial" pitchFamily="34" charset="0"/>
              <a:buChar char="•"/>
              <a:defRPr/>
            </a:lvl1pPr>
          </a:lstStyle>
          <a:p>
            <a:pPr lvl="0"/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5105400" y="1552575"/>
            <a:ext cx="3657600" cy="23622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1"/>
          </p:nvPr>
        </p:nvSpPr>
        <p:spPr>
          <a:xfrm>
            <a:off x="5105400" y="3962400"/>
            <a:ext cx="3657600" cy="2286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772521"/>
      </p:ext>
    </p:extLst>
  </p:cSld>
  <p:clrMapOvr>
    <a:masterClrMapping/>
  </p:clrMapOvr>
  <p:transition spd="med">
    <p:wipe dir="d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838200" y="2286000"/>
            <a:ext cx="7924800" cy="35814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38200" y="1447800"/>
            <a:ext cx="7924800" cy="609600"/>
          </a:xfrm>
        </p:spPr>
        <p:txBody>
          <a:bodyPr/>
          <a:lstStyle>
            <a:lvl1pPr marL="0" indent="0">
              <a:buNone/>
              <a:defRPr sz="2400" b="1"/>
            </a:lvl1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18599649"/>
      </p:ext>
    </p:extLst>
  </p:cSld>
  <p:clrMapOvr>
    <a:masterClrMapping/>
  </p:clrMapOvr>
  <p:transition spd="med">
    <p:wipe dir="d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48983"/>
      </p:ext>
    </p:extLst>
  </p:cSld>
  <p:clrMapOvr>
    <a:masterClrMapping/>
  </p:clrMapOvr>
  <p:transition spd="med">
    <p:wipe dir="d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4747126"/>
      </p:ext>
    </p:extLst>
  </p:cSld>
  <p:clrMapOvr>
    <a:masterClrMapping/>
  </p:clrMapOvr>
  <p:transition spd="med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9788" y="1552575"/>
            <a:ext cx="7923212" cy="469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27" name="Line 3"/>
          <p:cNvSpPr>
            <a:spLocks noChangeShapeType="1"/>
          </p:cNvSpPr>
          <p:nvPr/>
        </p:nvSpPr>
        <p:spPr bwMode="auto">
          <a:xfrm>
            <a:off x="0" y="1133475"/>
            <a:ext cx="9144000" cy="0"/>
          </a:xfrm>
          <a:prstGeom prst="line">
            <a:avLst/>
          </a:prstGeom>
          <a:noFill/>
          <a:ln w="19050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0"/>
            <a:ext cx="7924800" cy="109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title</a:t>
            </a:r>
          </a:p>
        </p:txBody>
      </p:sp>
      <p:sp>
        <p:nvSpPr>
          <p:cNvPr id="1029" name="Rectangle 35"/>
          <p:cNvSpPr>
            <a:spLocks noChangeArrowheads="1"/>
          </p:cNvSpPr>
          <p:nvPr/>
        </p:nvSpPr>
        <p:spPr bwMode="auto">
          <a:xfrm>
            <a:off x="6705600" y="655320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43DBA627-09D6-4F6C-921A-2B5A1E4AADE1}" type="slidenum">
              <a:rPr lang="en-US" sz="900">
                <a:solidFill>
                  <a:srgbClr val="0C86F4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900">
              <a:solidFill>
                <a:srgbClr val="0C86F4"/>
              </a:solidFill>
            </a:endParaRPr>
          </a:p>
        </p:txBody>
      </p:sp>
      <p:sp>
        <p:nvSpPr>
          <p:cNvPr id="1030" name="Text Box 36"/>
          <p:cNvSpPr txBox="1">
            <a:spLocks noChangeArrowheads="1"/>
          </p:cNvSpPr>
          <p:nvPr/>
        </p:nvSpPr>
        <p:spPr bwMode="auto">
          <a:xfrm>
            <a:off x="3657600" y="6538913"/>
            <a:ext cx="1622560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©"/>
              <a:defRPr/>
            </a:pPr>
            <a:r>
              <a:rPr lang="en-US" sz="700">
                <a:solidFill>
                  <a:srgbClr val="000000"/>
                </a:solidFill>
              </a:rPr>
              <a:t> 2015 Eaton. All Rights Reserved.</a:t>
            </a:r>
            <a:r>
              <a:rPr lang="en-US" sz="700">
                <a:solidFill>
                  <a:srgbClr val="FFFFFF"/>
                </a:solidFill>
              </a:rPr>
              <a:t>.</a:t>
            </a:r>
          </a:p>
        </p:txBody>
      </p:sp>
      <p:pic>
        <p:nvPicPr>
          <p:cNvPr id="1031" name="Picture 39" descr="Eaton - white background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86"/>
          <a:stretch>
            <a:fillRect/>
          </a:stretch>
        </p:blipFill>
        <p:spPr bwMode="auto">
          <a:xfrm>
            <a:off x="762000" y="6305550"/>
            <a:ext cx="121920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735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wipe dir="d"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067C6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067C6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067C6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067C6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067C6"/>
          </a:solidFill>
          <a:latin typeface="Arial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067C6"/>
          </a:solidFill>
          <a:latin typeface="Arial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067C6"/>
          </a:solidFill>
          <a:latin typeface="Arial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067C6"/>
          </a:solidFill>
          <a:latin typeface="Arial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067C6"/>
          </a:solidFill>
          <a:latin typeface="Arial" charset="0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ts val="1200"/>
        </a:spcBef>
        <a:spcAft>
          <a:spcPct val="0"/>
        </a:spcAft>
        <a:buClr>
          <a:srgbClr val="0067C6"/>
        </a:buClr>
        <a:buChar char="•"/>
        <a:defRPr sz="2800">
          <a:solidFill>
            <a:srgbClr val="292929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10000"/>
        </a:lnSpc>
        <a:spcBef>
          <a:spcPts val="1200"/>
        </a:spcBef>
        <a:spcAft>
          <a:spcPct val="0"/>
        </a:spcAft>
        <a:buClr>
          <a:srgbClr val="0067C6"/>
        </a:buClr>
        <a:buChar char="•"/>
        <a:defRPr sz="2400">
          <a:solidFill>
            <a:srgbClr val="292929"/>
          </a:solidFill>
          <a:latin typeface="+mn-lt"/>
        </a:defRPr>
      </a:lvl2pPr>
      <a:lvl3pPr marL="1143000" indent="-228600" algn="l" rtl="0" eaLnBrk="0" fontAlgn="base" hangingPunct="0">
        <a:lnSpc>
          <a:spcPct val="110000"/>
        </a:lnSpc>
        <a:spcBef>
          <a:spcPts val="1200"/>
        </a:spcBef>
        <a:spcAft>
          <a:spcPct val="0"/>
        </a:spcAft>
        <a:buClr>
          <a:srgbClr val="0067C6"/>
        </a:buClr>
        <a:buChar char="•"/>
        <a:defRPr sz="2000">
          <a:solidFill>
            <a:srgbClr val="292929"/>
          </a:solidFill>
          <a:latin typeface="+mn-lt"/>
        </a:defRPr>
      </a:lvl3pPr>
      <a:lvl4pPr marL="1600200" indent="-228600" algn="l" rtl="0" eaLnBrk="0" fontAlgn="base" hangingPunct="0">
        <a:spcBef>
          <a:spcPts val="1200"/>
        </a:spcBef>
        <a:spcAft>
          <a:spcPct val="0"/>
        </a:spcAft>
        <a:buClr>
          <a:srgbClr val="0067C6"/>
        </a:buClr>
        <a:buChar char="•"/>
        <a:defRPr sz="2000">
          <a:solidFill>
            <a:srgbClr val="292929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SzPct val="65000"/>
        <a:buFont typeface="Monotype Sorts" pitchFamily="2" charset="2"/>
        <a:buChar char="l"/>
        <a:defRPr sz="2000">
          <a:solidFill>
            <a:schemeClr val="bg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FFFF00"/>
        </a:buClr>
        <a:buSzPct val="65000"/>
        <a:buFont typeface="Monotype Sorts" pitchFamily="2" charset="2"/>
        <a:buChar char="l"/>
        <a:defRPr sz="2000">
          <a:solidFill>
            <a:schemeClr val="bg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FFFF00"/>
        </a:buClr>
        <a:buSzPct val="65000"/>
        <a:buFont typeface="Monotype Sorts" pitchFamily="2" charset="2"/>
        <a:buChar char="l"/>
        <a:defRPr sz="2000">
          <a:solidFill>
            <a:schemeClr val="bg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FFFF00"/>
        </a:buClr>
        <a:buSzPct val="65000"/>
        <a:buFont typeface="Monotype Sorts" pitchFamily="2" charset="2"/>
        <a:buChar char="l"/>
        <a:defRPr sz="2000">
          <a:solidFill>
            <a:schemeClr val="bg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FFFF00"/>
        </a:buClr>
        <a:buSzPct val="65000"/>
        <a:buFont typeface="Monotype Sorts" pitchFamily="2" charset="2"/>
        <a:buChar char="l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9788" y="1552575"/>
            <a:ext cx="7923212" cy="469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27" name="Line 3"/>
          <p:cNvSpPr>
            <a:spLocks noChangeShapeType="1"/>
          </p:cNvSpPr>
          <p:nvPr/>
        </p:nvSpPr>
        <p:spPr bwMode="auto">
          <a:xfrm>
            <a:off x="0" y="1133475"/>
            <a:ext cx="9144000" cy="0"/>
          </a:xfrm>
          <a:prstGeom prst="line">
            <a:avLst/>
          </a:prstGeom>
          <a:noFill/>
          <a:ln w="19050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0"/>
            <a:ext cx="7924800" cy="109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title</a:t>
            </a:r>
          </a:p>
        </p:txBody>
      </p:sp>
      <p:sp>
        <p:nvSpPr>
          <p:cNvPr id="1029" name="Rectangle 35"/>
          <p:cNvSpPr>
            <a:spLocks noChangeArrowheads="1"/>
          </p:cNvSpPr>
          <p:nvPr/>
        </p:nvSpPr>
        <p:spPr bwMode="auto">
          <a:xfrm>
            <a:off x="6705600" y="655320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D6D2804A-0600-4C94-ABA4-7D2E301415BE}" type="slidenum">
              <a:rPr lang="en-US" sz="900">
                <a:solidFill>
                  <a:srgbClr val="0C86F4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900">
              <a:solidFill>
                <a:srgbClr val="0C86F4"/>
              </a:solidFill>
            </a:endParaRPr>
          </a:p>
        </p:txBody>
      </p:sp>
      <p:sp>
        <p:nvSpPr>
          <p:cNvPr id="1030" name="Text Box 36"/>
          <p:cNvSpPr txBox="1">
            <a:spLocks noChangeArrowheads="1"/>
          </p:cNvSpPr>
          <p:nvPr userDrawn="1"/>
        </p:nvSpPr>
        <p:spPr bwMode="auto">
          <a:xfrm>
            <a:off x="3657600" y="6538913"/>
            <a:ext cx="1596912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©"/>
              <a:defRPr/>
            </a:pPr>
            <a:r>
              <a:rPr lang="en-US" sz="700">
                <a:solidFill>
                  <a:srgbClr val="000000"/>
                </a:solidFill>
              </a:rPr>
              <a:t> 2016 Eaton. All Rights Reserved.</a:t>
            </a:r>
          </a:p>
        </p:txBody>
      </p:sp>
      <p:pic>
        <p:nvPicPr>
          <p:cNvPr id="1031" name="Picture 39" descr="Eaton - white background"/>
          <p:cNvPicPr>
            <a:picLocks noChangeAspect="1" noChangeArrowheads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0" y="6305550"/>
            <a:ext cx="121920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3549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</p:sldLayoutIdLst>
  <p:transition spd="med">
    <p:wipe dir="d"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067C6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067C6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067C6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067C6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067C6"/>
          </a:solidFill>
          <a:latin typeface="Arial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067C6"/>
          </a:solidFill>
          <a:latin typeface="Arial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067C6"/>
          </a:solidFill>
          <a:latin typeface="Arial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067C6"/>
          </a:solidFill>
          <a:latin typeface="Arial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067C6"/>
          </a:solidFill>
          <a:latin typeface="Arial" charset="0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0067C6"/>
        </a:buClr>
        <a:buChar char="•"/>
        <a:defRPr sz="2800">
          <a:solidFill>
            <a:srgbClr val="292929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0067C6"/>
        </a:buClr>
        <a:buChar char="•"/>
        <a:defRPr sz="2400">
          <a:solidFill>
            <a:srgbClr val="292929"/>
          </a:solidFill>
          <a:latin typeface="+mn-lt"/>
        </a:defRPr>
      </a:lvl2pPr>
      <a:lvl3pPr marL="1143000" indent="-22860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0067C6"/>
        </a:buClr>
        <a:buChar char="•"/>
        <a:defRPr sz="2000">
          <a:solidFill>
            <a:srgbClr val="292929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67C6"/>
        </a:buClr>
        <a:buChar char="•"/>
        <a:defRPr sz="2000">
          <a:solidFill>
            <a:srgbClr val="292929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SzPct val="65000"/>
        <a:buFont typeface="Monotype Sorts" pitchFamily="2" charset="2"/>
        <a:buChar char="l"/>
        <a:defRPr sz="2000">
          <a:solidFill>
            <a:schemeClr val="bg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FFFF00"/>
        </a:buClr>
        <a:buSzPct val="65000"/>
        <a:buFont typeface="Monotype Sorts" pitchFamily="2" charset="2"/>
        <a:buChar char="l"/>
        <a:defRPr sz="2000">
          <a:solidFill>
            <a:schemeClr val="bg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FFFF00"/>
        </a:buClr>
        <a:buSzPct val="65000"/>
        <a:buFont typeface="Monotype Sorts" pitchFamily="2" charset="2"/>
        <a:buChar char="l"/>
        <a:defRPr sz="2000">
          <a:solidFill>
            <a:schemeClr val="bg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FFFF00"/>
        </a:buClr>
        <a:buSzPct val="65000"/>
        <a:buFont typeface="Monotype Sorts" pitchFamily="2" charset="2"/>
        <a:buChar char="l"/>
        <a:defRPr sz="2000">
          <a:solidFill>
            <a:schemeClr val="bg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FFFF00"/>
        </a:buClr>
        <a:buSzPct val="65000"/>
        <a:buFont typeface="Monotype Sorts" pitchFamily="2" charset="2"/>
        <a:buChar char="l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59487" y="83288"/>
            <a:ext cx="8825319" cy="983512"/>
          </a:xfrm>
          <a:prstGeom prst="rect">
            <a:avLst/>
          </a:prstGeom>
          <a:solidFill>
            <a:schemeClr val="tx2"/>
          </a:solidFill>
          <a:ln w="44450" cap="rnd" cmpd="dbl">
            <a:solidFill>
              <a:schemeClr val="tx1"/>
            </a:solidFill>
            <a:round/>
            <a:headEnd/>
            <a:tailEnd/>
          </a:ln>
        </p:spPr>
        <p:txBody>
          <a:bodyPr lIns="91432" tIns="45716" rIns="91432" bIns="45716"/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fontAlgn="base">
              <a:lnSpc>
                <a:spcPct val="110000"/>
              </a:lnSpc>
              <a:spcAft>
                <a:spcPct val="0"/>
              </a:spcAft>
              <a:buClr>
                <a:srgbClr val="3367CD"/>
              </a:buClr>
            </a:pPr>
            <a:r>
              <a:rPr lang="en-US" sz="1600" i="1">
                <a:solidFill>
                  <a:srgbClr val="FFFFFF"/>
                </a:solidFill>
                <a:latin typeface="Century Gothic" panose="020B0502020202020204" pitchFamily="34" charset="0"/>
              </a:rPr>
              <a:t>pH Exceedance -  City of Nacogdoches Wastewater Permit</a:t>
            </a:r>
          </a:p>
          <a:p>
            <a:pPr fontAlgn="base">
              <a:lnSpc>
                <a:spcPct val="110000"/>
              </a:lnSpc>
              <a:spcAft>
                <a:spcPct val="0"/>
              </a:spcAft>
              <a:buClr>
                <a:srgbClr val="3367CD"/>
              </a:buClr>
            </a:pPr>
            <a:r>
              <a:rPr lang="en-US" sz="1600" i="1">
                <a:solidFill>
                  <a:srgbClr val="FFFFFF"/>
                </a:solidFill>
                <a:latin typeface="Century Gothic" panose="020B0502020202020204" pitchFamily="34" charset="0"/>
              </a:rPr>
              <a:t>September 17, 2018 – Nacogdoches, Texas</a:t>
            </a:r>
          </a:p>
          <a:p>
            <a:pPr fontAlgn="base">
              <a:lnSpc>
                <a:spcPct val="110000"/>
              </a:lnSpc>
              <a:spcAft>
                <a:spcPct val="0"/>
              </a:spcAft>
              <a:buClr>
                <a:srgbClr val="3367CD"/>
              </a:buClr>
            </a:pPr>
            <a:r>
              <a:rPr lang="en-US" sz="1600" i="1">
                <a:solidFill>
                  <a:srgbClr val="FFFFFF"/>
                </a:solidFill>
                <a:latin typeface="Century Gothic" panose="020B0502020202020204" pitchFamily="34" charset="0"/>
              </a:rPr>
              <a:t>Plant Manager: </a:t>
            </a:r>
            <a:r>
              <a:rPr lang="en-US" sz="1600" i="1" err="1">
                <a:solidFill>
                  <a:srgbClr val="FFFFFF"/>
                </a:solidFill>
                <a:latin typeface="Century Gothic" panose="020B0502020202020204" pitchFamily="34" charset="0"/>
              </a:rPr>
              <a:t>Uzoa</a:t>
            </a:r>
            <a:r>
              <a:rPr lang="en-US" sz="1600" i="1">
                <a:solidFill>
                  <a:srgbClr val="FFFFFF"/>
                </a:solidFill>
                <a:latin typeface="Century Gothic" panose="020B0502020202020204" pitchFamily="34" charset="0"/>
              </a:rPr>
              <a:t> Darwichzada, EHS Site Contact: Scott Jacobs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38600" y="1143000"/>
            <a:ext cx="4953000" cy="838200"/>
          </a:xfrm>
          <a:prstGeom prst="rect">
            <a:avLst/>
          </a:prstGeom>
          <a:noFill/>
          <a:ln w="12700" cap="rnd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/>
            </a:pPr>
            <a:r>
              <a:rPr lang="en-US" sz="1000" b="1" i="1" u="sng">
                <a:solidFill>
                  <a:srgbClr val="030000"/>
                </a:solidFill>
                <a:latin typeface="Century Gothic" panose="020B0502020202020204" pitchFamily="34" charset="0"/>
              </a:rPr>
              <a:t>Incident description:</a:t>
            </a:r>
          </a:p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/>
            </a:pPr>
            <a:r>
              <a:rPr lang="en-US" sz="1000">
                <a:solidFill>
                  <a:srgbClr val="000000"/>
                </a:solidFill>
              </a:rPr>
              <a:t>Our final wastewater outfall was being tested during our semi-annual wastewater  sampling and our 3</a:t>
            </a:r>
            <a:r>
              <a:rPr lang="en-US" sz="1000" baseline="30000">
                <a:solidFill>
                  <a:srgbClr val="000000"/>
                </a:solidFill>
              </a:rPr>
              <a:t>rd</a:t>
            </a:r>
            <a:r>
              <a:rPr lang="en-US" sz="1000">
                <a:solidFill>
                  <a:srgbClr val="000000"/>
                </a:solidFill>
              </a:rPr>
              <a:t> party lab notified us at that time that the pH was higher than our permit limit. An immediate investigation was commenced. </a:t>
            </a:r>
          </a:p>
        </p:txBody>
      </p:sp>
      <p:sp>
        <p:nvSpPr>
          <p:cNvPr id="10" name="Rectangle 10"/>
          <p:cNvSpPr txBox="1">
            <a:spLocks noChangeArrowheads="1"/>
          </p:cNvSpPr>
          <p:nvPr/>
        </p:nvSpPr>
        <p:spPr bwMode="auto">
          <a:xfrm>
            <a:off x="5466907" y="6629400"/>
            <a:ext cx="3657600" cy="2286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lIns="91432" tIns="45716" rIns="91432" bIns="45716" anchor="ctr"/>
          <a:lstStyle/>
          <a:p>
            <a:pPr algn="ctr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/>
            </a:pPr>
            <a:r>
              <a:rPr lang="en-US" sz="1200" b="1" i="1" kern="0">
                <a:solidFill>
                  <a:srgbClr val="FFFFFF"/>
                </a:solidFill>
                <a:latin typeface="Century Gothic" pitchFamily="34" charset="0"/>
              </a:rPr>
              <a:t>Environment, </a:t>
            </a:r>
            <a:r>
              <a:rPr lang="hu-HU" sz="1200" b="1" i="1" kern="0">
                <a:solidFill>
                  <a:srgbClr val="FFFFFF"/>
                </a:solidFill>
                <a:latin typeface="Century Gothic" pitchFamily="34" charset="0"/>
              </a:rPr>
              <a:t>Health &amp; Safety Lessons Learned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>
          <a:xfrm>
            <a:off x="139893" y="5029200"/>
            <a:ext cx="3728484" cy="137160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/>
          <a:lstStyle/>
          <a:p>
            <a:pPr marL="228600" indent="-2286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E5182F"/>
              </a:buClr>
              <a:buFont typeface="Wingdings" pitchFamily="2" charset="2"/>
              <a:buNone/>
              <a:defRPr/>
            </a:pPr>
            <a:r>
              <a:rPr lang="en-US" altLang="zh-CN" sz="1000" b="1" i="1" u="sng" kern="0">
                <a:solidFill>
                  <a:srgbClr val="000000"/>
                </a:solidFill>
                <a:latin typeface="Century Gothic" pitchFamily="34" charset="0"/>
                <a:ea typeface="宋体" pitchFamily="2" charset="-122"/>
              </a:rPr>
              <a:t>How does this incident apply to you?</a:t>
            </a:r>
          </a:p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E5182F"/>
              </a:buClr>
              <a:defRPr/>
            </a:pPr>
            <a:endParaRPr lang="en-US" altLang="zh-CN" sz="1000" kern="0">
              <a:solidFill>
                <a:srgbClr val="000000"/>
              </a:solidFill>
              <a:latin typeface="Century Gothic" pitchFamily="34" charset="0"/>
              <a:ea typeface="宋体" pitchFamily="2" charset="-122"/>
            </a:endParaRPr>
          </a:p>
          <a:p>
            <a:pPr marL="228600" indent="-2286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E5182F"/>
              </a:buClr>
              <a:buFontTx/>
              <a:buAutoNum type="arabicPeriod"/>
              <a:defRPr/>
            </a:pPr>
            <a:r>
              <a:rPr lang="en-US" altLang="zh-CN" sz="1000" kern="0">
                <a:solidFill>
                  <a:srgbClr val="000000"/>
                </a:solidFill>
                <a:ea typeface="宋体" pitchFamily="2" charset="-122"/>
                <a:cs typeface="Arial" panose="020B0604020202020204" pitchFamily="34" charset="0"/>
              </a:rPr>
              <a:t>Are there any risks or incidents occurring between your currently scheduled process checks?</a:t>
            </a:r>
          </a:p>
          <a:p>
            <a:pPr marL="228600" indent="-2286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E5182F"/>
              </a:buClr>
              <a:buFontTx/>
              <a:buAutoNum type="arabicPeriod"/>
              <a:defRPr/>
            </a:pPr>
            <a:r>
              <a:rPr lang="en-US" altLang="zh-CN" sz="1000" kern="0">
                <a:solidFill>
                  <a:srgbClr val="000000"/>
                </a:solidFill>
                <a:ea typeface="宋体" pitchFamily="2" charset="-122"/>
                <a:cs typeface="Arial" panose="020B0604020202020204" pitchFamily="34" charset="0"/>
              </a:rPr>
              <a:t>Do you have written and trained procedures on how to react when parameters exceed of trigger points?</a:t>
            </a:r>
          </a:p>
          <a:p>
            <a:pPr marL="228600" indent="-2286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E5182F"/>
              </a:buClr>
              <a:buFontTx/>
              <a:buAutoNum type="arabicPeriod"/>
              <a:defRPr/>
            </a:pPr>
            <a:r>
              <a:rPr lang="en-US" altLang="zh-CN" sz="1000" kern="0">
                <a:solidFill>
                  <a:srgbClr val="000000"/>
                </a:solidFill>
                <a:ea typeface="宋体" pitchFamily="2" charset="-122"/>
                <a:cs typeface="Arial" panose="020B0604020202020204" pitchFamily="34" charset="0"/>
              </a:rPr>
              <a:t>Do you have process checks developed for alarming devices to insure they are still working?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8600" y="4495800"/>
            <a:ext cx="4953000" cy="1905000"/>
          </a:xfrm>
          <a:prstGeom prst="rect">
            <a:avLst/>
          </a:prstGeom>
          <a:solidFill>
            <a:schemeClr val="bg2"/>
          </a:solidFill>
          <a:ln w="12700" cap="rnd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/>
            </a:pPr>
            <a:r>
              <a:rPr lang="en-US" sz="1000" b="1" i="1" u="sng">
                <a:solidFill>
                  <a:srgbClr val="000000"/>
                </a:solidFill>
                <a:latin typeface="Century Gothic" pitchFamily="34" charset="0"/>
              </a:rPr>
              <a:t>Interim Containment Actions:</a:t>
            </a:r>
          </a:p>
          <a:p>
            <a:pPr marL="228600" indent="-228600" fontAlgn="base">
              <a:lnSpc>
                <a:spcPct val="110000"/>
              </a:lnSpc>
              <a:spcAft>
                <a:spcPct val="0"/>
              </a:spcAft>
              <a:buClr>
                <a:srgbClr val="3367CD"/>
              </a:buClr>
              <a:buFontTx/>
              <a:buAutoNum type="arabicPeriod"/>
              <a:defRPr/>
            </a:pPr>
            <a:r>
              <a:rPr lang="en-US" sz="1000">
                <a:solidFill>
                  <a:srgbClr val="000000"/>
                </a:solidFill>
              </a:rPr>
              <a:t>Maintenance repaired the nozzles to stop the spraying into stage 1</a:t>
            </a:r>
          </a:p>
          <a:p>
            <a:pPr marL="228600" indent="-228600" fontAlgn="base">
              <a:lnSpc>
                <a:spcPct val="110000"/>
              </a:lnSpc>
              <a:spcAft>
                <a:spcPct val="0"/>
              </a:spcAft>
              <a:buClr>
                <a:srgbClr val="3367CD"/>
              </a:buClr>
              <a:buFontTx/>
              <a:buAutoNum type="arabicPeriod"/>
              <a:defRPr/>
            </a:pPr>
            <a:r>
              <a:rPr lang="en-US" sz="1000">
                <a:solidFill>
                  <a:srgbClr val="000000"/>
                </a:solidFill>
              </a:rPr>
              <a:t>Instituted overflow checks of  stages 1 and 2 for overflow every two hours</a:t>
            </a:r>
          </a:p>
          <a:p>
            <a:pPr marL="228600" indent="-228600" fontAlgn="base">
              <a:lnSpc>
                <a:spcPct val="110000"/>
              </a:lnSpc>
              <a:spcAft>
                <a:spcPct val="0"/>
              </a:spcAft>
              <a:buClr>
                <a:srgbClr val="3367CD"/>
              </a:buClr>
              <a:buFontTx/>
              <a:buAutoNum type="arabicPeriod"/>
              <a:defRPr/>
            </a:pPr>
            <a:r>
              <a:rPr lang="en-US" sz="1000">
                <a:solidFill>
                  <a:srgbClr val="000000"/>
                </a:solidFill>
              </a:rPr>
              <a:t>Monitored pH until it came back into compliance.</a:t>
            </a:r>
          </a:p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/>
            </a:pPr>
            <a:r>
              <a:rPr lang="en-US" sz="1000" b="1" i="1" u="sng">
                <a:solidFill>
                  <a:srgbClr val="000000"/>
                </a:solidFill>
                <a:latin typeface="Century Gothic" pitchFamily="34" charset="0"/>
              </a:rPr>
              <a:t>Preventive &amp; Corrective Actions:</a:t>
            </a:r>
          </a:p>
          <a:p>
            <a:pPr marL="228600" indent="-2286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buFont typeface="+mj-lt"/>
              <a:buAutoNum type="arabicPeriod"/>
              <a:defRPr/>
            </a:pPr>
            <a:r>
              <a:rPr lang="en-US" sz="1000">
                <a:solidFill>
                  <a:srgbClr val="000000"/>
                </a:solidFill>
              </a:rPr>
              <a:t>Installed continuous pH monitor with audible alarm for continuous monitoring of main drain (adding visual alarm as well). </a:t>
            </a:r>
          </a:p>
          <a:p>
            <a:pPr marL="228600" indent="-2286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buFont typeface="+mj-lt"/>
              <a:buAutoNum type="arabicPeriod"/>
              <a:defRPr/>
            </a:pPr>
            <a:r>
              <a:rPr lang="en-US" sz="1000">
                <a:solidFill>
                  <a:srgbClr val="000000"/>
                </a:solidFill>
              </a:rPr>
              <a:t>Developed VOP for Stage 1 and 2 alarm/overflow situation and train operators</a:t>
            </a:r>
          </a:p>
          <a:p>
            <a:pPr marL="228600" indent="-2286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buFont typeface="+mj-lt"/>
              <a:buAutoNum type="arabicPeriod"/>
              <a:defRPr/>
            </a:pPr>
            <a:r>
              <a:rPr lang="en-US" sz="1000">
                <a:solidFill>
                  <a:srgbClr val="000000"/>
                </a:solidFill>
              </a:rPr>
              <a:t>Create and install instructional signage for visual and audible alarm</a:t>
            </a:r>
          </a:p>
          <a:p>
            <a:pPr marL="228600" indent="-2286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buFont typeface="+mj-lt"/>
              <a:buAutoNum type="arabicPeriod"/>
              <a:defRPr/>
            </a:pPr>
            <a:r>
              <a:rPr lang="en-US" sz="1000">
                <a:solidFill>
                  <a:srgbClr val="000000"/>
                </a:solidFill>
              </a:rPr>
              <a:t>Developed calibration and process check in EHS Technician’s Standard Work 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2362200" y="1524000"/>
            <a:ext cx="1066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38600" y="1981200"/>
            <a:ext cx="4953000" cy="2514600"/>
          </a:xfrm>
          <a:prstGeom prst="rect">
            <a:avLst/>
          </a:prstGeom>
          <a:noFill/>
          <a:ln w="12700" cap="rnd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pPr fontAlgn="base">
              <a:lnSpc>
                <a:spcPct val="110000"/>
              </a:lnSpc>
              <a:spcAft>
                <a:spcPct val="0"/>
              </a:spcAft>
              <a:buClr>
                <a:srgbClr val="3367CD"/>
              </a:buClr>
              <a:defRPr/>
            </a:pPr>
            <a:r>
              <a:rPr lang="en-US" sz="1000" b="1" i="1" u="sng">
                <a:solidFill>
                  <a:srgbClr val="000000"/>
                </a:solidFill>
                <a:latin typeface="Century Gothic" panose="020B0502020202020204" pitchFamily="34" charset="0"/>
              </a:rPr>
              <a:t>Investigation Findings:</a:t>
            </a:r>
          </a:p>
          <a:p>
            <a:pPr marL="228600" indent="-228600" fontAlgn="base">
              <a:lnSpc>
                <a:spcPct val="110000"/>
              </a:lnSpc>
              <a:spcAft>
                <a:spcPct val="0"/>
              </a:spcAft>
              <a:buClr>
                <a:srgbClr val="3367CD"/>
              </a:buClr>
              <a:buFontTx/>
              <a:buAutoNum type="arabicPeriod"/>
              <a:defRPr/>
            </a:pPr>
            <a:r>
              <a:rPr lang="en-US" sz="1000">
                <a:solidFill>
                  <a:srgbClr val="000000"/>
                </a:solidFill>
              </a:rPr>
              <a:t>Stage 1 of the 8 stage washer was overflowing into the main drain to the City sewer (in normal operation, stages 3-6 overflow and higher pH stages 1 and 2 do not).</a:t>
            </a:r>
          </a:p>
          <a:p>
            <a:pPr marL="228600" indent="-228600" fontAlgn="base">
              <a:lnSpc>
                <a:spcPct val="110000"/>
              </a:lnSpc>
              <a:spcAft>
                <a:spcPct val="0"/>
              </a:spcAft>
              <a:buClr>
                <a:srgbClr val="3367CD"/>
              </a:buClr>
              <a:buFontTx/>
              <a:buAutoNum type="arabicPeriod"/>
              <a:defRPr/>
            </a:pPr>
            <a:r>
              <a:rPr lang="en-US" sz="1000">
                <a:solidFill>
                  <a:srgbClr val="000000"/>
                </a:solidFill>
              </a:rPr>
              <a:t>Found spray nozzles  spraying from Stage 2 into Stage 1 causing stage 1 to overflow.</a:t>
            </a:r>
          </a:p>
          <a:p>
            <a:pPr marL="228600" indent="-228600" fontAlgn="base">
              <a:lnSpc>
                <a:spcPct val="110000"/>
              </a:lnSpc>
              <a:spcAft>
                <a:spcPct val="0"/>
              </a:spcAft>
              <a:buClr>
                <a:srgbClr val="3367CD"/>
              </a:buClr>
              <a:buFontTx/>
              <a:buAutoNum type="arabicPeriod"/>
              <a:defRPr/>
            </a:pPr>
            <a:r>
              <a:rPr lang="en-US" sz="1000">
                <a:solidFill>
                  <a:srgbClr val="000000"/>
                </a:solidFill>
              </a:rPr>
              <a:t>Controls to check and document the pH at the beginning of each shift were in place. Process checks were being performed.</a:t>
            </a:r>
          </a:p>
          <a:p>
            <a:pPr marL="228600" indent="-228600" fontAlgn="base">
              <a:lnSpc>
                <a:spcPct val="110000"/>
              </a:lnSpc>
              <a:spcAft>
                <a:spcPct val="0"/>
              </a:spcAft>
              <a:buClr>
                <a:srgbClr val="3367CD"/>
              </a:buClr>
              <a:buFontTx/>
              <a:buAutoNum type="arabicPeriod"/>
              <a:defRPr/>
            </a:pPr>
            <a:r>
              <a:rPr lang="en-US" sz="1000">
                <a:solidFill>
                  <a:srgbClr val="000000"/>
                </a:solidFill>
              </a:rPr>
              <a:t>The pH had been checked by the operator as per procedure and pH was found to be in compliance. </a:t>
            </a:r>
          </a:p>
          <a:p>
            <a:pPr marL="228600" indent="-228600" fontAlgn="base">
              <a:lnSpc>
                <a:spcPct val="110000"/>
              </a:lnSpc>
              <a:spcAft>
                <a:spcPct val="0"/>
              </a:spcAft>
              <a:buClr>
                <a:srgbClr val="3367CD"/>
              </a:buClr>
              <a:buFontTx/>
              <a:buAutoNum type="arabicPeriod"/>
              <a:defRPr/>
            </a:pPr>
            <a:r>
              <a:rPr lang="en-US" sz="1000">
                <a:solidFill>
                  <a:srgbClr val="000000"/>
                </a:solidFill>
              </a:rPr>
              <a:t>Exceedance occurred after beginning of shift pH reading.</a:t>
            </a:r>
            <a:endParaRPr lang="en-US" sz="900" b="1" u="sng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fontAlgn="base">
              <a:lnSpc>
                <a:spcPct val="110000"/>
              </a:lnSpc>
              <a:spcAft>
                <a:spcPct val="0"/>
              </a:spcAft>
              <a:buClr>
                <a:srgbClr val="3367CD"/>
              </a:buClr>
              <a:defRPr/>
            </a:pPr>
            <a:r>
              <a:rPr lang="en-US" sz="1000" b="1" u="sng">
                <a:solidFill>
                  <a:srgbClr val="000000"/>
                </a:solidFill>
                <a:latin typeface="Century Gothic" panose="020B0502020202020204" pitchFamily="34" charset="0"/>
              </a:rPr>
              <a:t>Root Causes and Management System Gaps</a:t>
            </a:r>
            <a:r>
              <a:rPr lang="en-US" sz="1000" b="1">
                <a:solidFill>
                  <a:srgbClr val="000000"/>
                </a:solidFill>
                <a:latin typeface="Century Gothic" panose="020B0502020202020204" pitchFamily="34" charset="0"/>
              </a:rPr>
              <a:t>:</a:t>
            </a:r>
          </a:p>
          <a:p>
            <a:pPr marL="228600" indent="-228600" fontAlgn="base">
              <a:lnSpc>
                <a:spcPct val="110000"/>
              </a:lnSpc>
              <a:spcAft>
                <a:spcPct val="0"/>
              </a:spcAft>
              <a:buClr>
                <a:srgbClr val="3367CD"/>
              </a:buClr>
              <a:buFontTx/>
              <a:buAutoNum type="arabicPeriod"/>
              <a:defRPr/>
            </a:pPr>
            <a:r>
              <a:rPr lang="en-US" sz="1000">
                <a:solidFill>
                  <a:srgbClr val="000000"/>
                </a:solidFill>
              </a:rPr>
              <a:t>Processes have not been (continuously) monitored for effectiveness</a:t>
            </a:r>
          </a:p>
          <a:p>
            <a:pPr marL="228600" indent="-228600" fontAlgn="base">
              <a:lnSpc>
                <a:spcPct val="110000"/>
              </a:lnSpc>
              <a:spcAft>
                <a:spcPct val="0"/>
              </a:spcAft>
              <a:buClr>
                <a:srgbClr val="3367CD"/>
              </a:buClr>
              <a:buFontTx/>
              <a:buAutoNum type="arabicPeriod"/>
              <a:defRPr/>
            </a:pPr>
            <a:r>
              <a:rPr lang="en-US" sz="1000">
                <a:solidFill>
                  <a:srgbClr val="000000"/>
                </a:solidFill>
              </a:rPr>
              <a:t>(Improved) Processes have not been created</a:t>
            </a:r>
          </a:p>
          <a:p>
            <a:pPr marL="228600" indent="-228600" fontAlgn="base">
              <a:lnSpc>
                <a:spcPct val="110000"/>
              </a:lnSpc>
              <a:spcAft>
                <a:spcPct val="0"/>
              </a:spcAft>
              <a:buClr>
                <a:srgbClr val="3367CD"/>
              </a:buClr>
              <a:buFontTx/>
              <a:buAutoNum type="arabicPeriod"/>
              <a:defRPr/>
            </a:pPr>
            <a:endParaRPr lang="en-US" sz="1000">
              <a:solidFill>
                <a:srgbClr val="000000"/>
              </a:solidFill>
            </a:endParaRPr>
          </a:p>
          <a:p>
            <a:pPr fontAlgn="base">
              <a:lnSpc>
                <a:spcPct val="110000"/>
              </a:lnSpc>
              <a:spcAft>
                <a:spcPct val="0"/>
              </a:spcAft>
              <a:buClr>
                <a:srgbClr val="3367CD"/>
              </a:buClr>
              <a:defRPr/>
            </a:pPr>
            <a:endParaRPr lang="en-US" sz="1000">
              <a:solidFill>
                <a:srgbClr val="00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941" y="1676400"/>
            <a:ext cx="3608387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TextBox 12"/>
          <p:cNvSpPr txBox="1"/>
          <p:nvPr/>
        </p:nvSpPr>
        <p:spPr>
          <a:xfrm rot="20330769">
            <a:off x="7535745" y="403972"/>
            <a:ext cx="1173719" cy="3421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</a:pPr>
            <a:r>
              <a:rPr lang="en-US" sz="1600" b="1" i="1">
                <a:solidFill>
                  <a:srgbClr val="FF0000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4078334189"/>
      </p:ext>
    </p:extLst>
  </p:cSld>
  <p:clrMapOvr>
    <a:masterClrMapping/>
  </p:clrMapOvr>
  <p:transition spd="med">
    <p:wipe dir="d"/>
  </p:transition>
</p:sld>
</file>

<file path=ppt/theme/theme1.xml><?xml version="1.0" encoding="utf-8"?>
<a:theme xmlns:a="http://schemas.openxmlformats.org/drawingml/2006/main" name="Eaton slide layout">
  <a:themeElements>
    <a:clrScheme name="Eaton Palette 2012">
      <a:dk1>
        <a:srgbClr val="000000"/>
      </a:dk1>
      <a:lt1>
        <a:srgbClr val="FFFFFF"/>
      </a:lt1>
      <a:dk2>
        <a:srgbClr val="0067CD"/>
      </a:dk2>
      <a:lt2>
        <a:srgbClr val="FFFFFF"/>
      </a:lt2>
      <a:accent1>
        <a:srgbClr val="0067C6"/>
      </a:accent1>
      <a:accent2>
        <a:srgbClr val="009900"/>
      </a:accent2>
      <a:accent3>
        <a:srgbClr val="FF0000"/>
      </a:accent3>
      <a:accent4>
        <a:srgbClr val="F88B1C"/>
      </a:accent4>
      <a:accent5>
        <a:srgbClr val="800080"/>
      </a:accent5>
      <a:accent6>
        <a:srgbClr val="FFFF00"/>
      </a:accent6>
      <a:hlink>
        <a:srgbClr val="F88B1C"/>
      </a:hlink>
      <a:folHlink>
        <a:srgbClr val="800080"/>
      </a:folHlink>
    </a:clrScheme>
    <a:fontScheme name="photo_template_june2008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10000"/>
          </a:lnSpc>
          <a:spcBef>
            <a:spcPct val="20000"/>
          </a:spcBef>
          <a:spcAft>
            <a:spcPct val="0"/>
          </a:spcAft>
          <a:buClr>
            <a:srgbClr val="3367CD"/>
          </a:buClr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10000"/>
          </a:lnSpc>
          <a:spcBef>
            <a:spcPct val="20000"/>
          </a:spcBef>
          <a:spcAft>
            <a:spcPct val="0"/>
          </a:spcAft>
          <a:buClr>
            <a:srgbClr val="3367CD"/>
          </a:buClr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hoto_template_june2008 1">
        <a:dk1>
          <a:srgbClr val="000000"/>
        </a:dk1>
        <a:lt1>
          <a:srgbClr val="FFFFFF"/>
        </a:lt1>
        <a:dk2>
          <a:srgbClr val="0067CD"/>
        </a:dk2>
        <a:lt2>
          <a:srgbClr val="800080"/>
        </a:lt2>
        <a:accent1>
          <a:srgbClr val="00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E70000"/>
        </a:accent6>
        <a:hlink>
          <a:srgbClr val="FF99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hoto_template_june2008">
  <a:themeElements>
    <a:clrScheme name="Eaton Palette 2012">
      <a:dk1>
        <a:srgbClr val="000000"/>
      </a:dk1>
      <a:lt1>
        <a:srgbClr val="FFFFFF"/>
      </a:lt1>
      <a:dk2>
        <a:srgbClr val="0067CD"/>
      </a:dk2>
      <a:lt2>
        <a:srgbClr val="FFFFFF"/>
      </a:lt2>
      <a:accent1>
        <a:srgbClr val="0067C6"/>
      </a:accent1>
      <a:accent2>
        <a:srgbClr val="009900"/>
      </a:accent2>
      <a:accent3>
        <a:srgbClr val="FF0000"/>
      </a:accent3>
      <a:accent4>
        <a:srgbClr val="F88B1C"/>
      </a:accent4>
      <a:accent5>
        <a:srgbClr val="800080"/>
      </a:accent5>
      <a:accent6>
        <a:srgbClr val="FFFF00"/>
      </a:accent6>
      <a:hlink>
        <a:srgbClr val="F88B1C"/>
      </a:hlink>
      <a:folHlink>
        <a:srgbClr val="800080"/>
      </a:folHlink>
    </a:clrScheme>
    <a:fontScheme name="photo_template_june2008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10000"/>
          </a:lnSpc>
          <a:spcBef>
            <a:spcPct val="20000"/>
          </a:spcBef>
          <a:spcAft>
            <a:spcPct val="0"/>
          </a:spcAft>
          <a:buClr>
            <a:srgbClr val="3367CD"/>
          </a:buClr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10000"/>
          </a:lnSpc>
          <a:spcBef>
            <a:spcPct val="20000"/>
          </a:spcBef>
          <a:spcAft>
            <a:spcPct val="0"/>
          </a:spcAft>
          <a:buClr>
            <a:srgbClr val="3367CD"/>
          </a:buClr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hoto_template_june2008 1">
        <a:dk1>
          <a:srgbClr val="000000"/>
        </a:dk1>
        <a:lt1>
          <a:srgbClr val="FFFFFF"/>
        </a:lt1>
        <a:dk2>
          <a:srgbClr val="0067CD"/>
        </a:dk2>
        <a:lt2>
          <a:srgbClr val="800080"/>
        </a:lt2>
        <a:accent1>
          <a:srgbClr val="00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E70000"/>
        </a:accent6>
        <a:hlink>
          <a:srgbClr val="FF99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07949C3B4B6F4FAE55C3B513F04342" ma:contentTypeVersion="13" ma:contentTypeDescription="Create a new document." ma:contentTypeScope="" ma:versionID="81bb08b6d6353efce4abbb7320561250">
  <xsd:schema xmlns:xsd="http://www.w3.org/2001/XMLSchema" xmlns:xs="http://www.w3.org/2001/XMLSchema" xmlns:p="http://schemas.microsoft.com/office/2006/metadata/properties" xmlns:ns2="152f58a6-a63c-4812-9377-d2ca6eb2262c" xmlns:ns3="e1a40294-510b-4e5d-8d04-b2db777038e9" targetNamespace="http://schemas.microsoft.com/office/2006/metadata/properties" ma:root="true" ma:fieldsID="ca2a9bd2c72a6a0f604414e0dcb09bd7" ns2:_="" ns3:_="">
    <xsd:import namespace="152f58a6-a63c-4812-9377-d2ca6eb2262c"/>
    <xsd:import namespace="e1a40294-510b-4e5d-8d04-b2db777038e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2f58a6-a63c-4812-9377-d2ca6eb226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a40294-510b-4e5d-8d04-b2db777038e9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552E5CD-2D64-4590-8CF4-16825A47A55A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152f58a6-a63c-4812-9377-d2ca6eb2262c"/>
    <ds:schemaRef ds:uri="e1a40294-510b-4e5d-8d04-b2db777038e9"/>
  </ds:schemaRefs>
</ds:datastoreItem>
</file>

<file path=customXml/itemProps2.xml><?xml version="1.0" encoding="utf-8"?>
<ds:datastoreItem xmlns:ds="http://schemas.openxmlformats.org/officeDocument/2006/customXml" ds:itemID="{5B950F4F-B5FA-4B68-9E39-CFCA6EFABE75}">
  <ds:schemaRefs>
    <ds:schemaRef ds:uri="http://schemas.microsoft.com/office/2006/metadata/properties"/>
    <ds:schemaRef ds:uri="http://www.w3.org/2000/xmlns/"/>
  </ds:schemaRefs>
</ds:datastoreItem>
</file>

<file path=customXml/itemProps3.xml><?xml version="1.0" encoding="utf-8"?>
<ds:datastoreItem xmlns:ds="http://schemas.openxmlformats.org/officeDocument/2006/customXml" ds:itemID="{ED37CCF1-7A9E-4042-B4F8-83EB3EDBEFF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865c8e0-d4a3-422c-b11f-58c087912067}" enabled="1" method="Privileged" siteId="{d6525c95-b906-431a-b926-e9b51ba43cc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827</Words>
  <Application>Microsoft Office PowerPoint</Application>
  <PresentationFormat>On-screen Show (4:3)</PresentationFormat>
  <Paragraphs>53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Eaton slide layout</vt:lpstr>
      <vt:lpstr>photo_template_june2008</vt:lpstr>
      <vt:lpstr>PowerPoint Presentation</vt:lpstr>
    </vt:vector>
  </TitlesOfParts>
  <Company>Eaton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Norwood, Tamara</dc:creator>
  <cp:lastModifiedBy>Ball, Charlie</cp:lastModifiedBy>
  <cp:revision>5</cp:revision>
  <dcterms:created xsi:type="dcterms:W3CDTF">2019-01-03T17:19:46Z</dcterms:created>
  <dcterms:modified xsi:type="dcterms:W3CDTF">2026-06-21T13:39:50Z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0x010100F707949C3B4B6F4FAE55C3B513F04342</vt:lpwstr>
  </property>
  <property fmtid="{D5CDD505-2E9C-101B-9397-08002B2CF9AE}" pid="3" name="MSIP_Label_f865c8e0-d4a3-422c-b11f-58c087912067_ActionId">
    <vt:lpwstr>60bd1162-c328-4299-80e8-61aee93769ea</vt:lpwstr>
  </property>
  <property fmtid="{D5CDD505-2E9C-101B-9397-08002B2CF9AE}" pid="4" name="MSIP_Label_f865c8e0-d4a3-422c-b11f-58c087912067_Name">
    <vt:lpwstr>Confidential (IP3)</vt:lpwstr>
  </property>
  <property fmtid="{D5CDD505-2E9C-101B-9397-08002B2CF9AE}" pid="5" name="MSIP_Label_f865c8e0-d4a3-422c-b11f-58c087912067_SetDate">
    <vt:lpwstr>2024-01-08T16:12:26Z</vt:lpwstr>
  </property>
  <property fmtid="{D5CDD505-2E9C-101B-9397-08002B2CF9AE}" pid="6" name="MSIP_Label_f865c8e0-d4a3-422c-b11f-58c087912067_SiteId">
    <vt:lpwstr>d6525c95-b906-431a-b926-e9b51ba43cc4</vt:lpwstr>
  </property>
  <property fmtid="{D5CDD505-2E9C-101B-9397-08002B2CF9AE}" pid="7" name="MSIP_Label_f865c8e0-d4a3-422c-b11f-58c087912067_Enabled">
    <vt:lpwstr>True</vt:lpwstr>
  </property>
  <property fmtid="{D5CDD505-2E9C-101B-9397-08002B2CF9AE}" pid="8" name="MSIP_Label_f865c8e0-d4a3-422c-b11f-58c087912067_Removed">
    <vt:lpwstr>False</vt:lpwstr>
  </property>
  <property fmtid="{D5CDD505-2E9C-101B-9397-08002B2CF9AE}" pid="9" name="MSIP_Label_f865c8e0-d4a3-422c-b11f-58c087912067_Extended_MSFT_Method">
    <vt:lpwstr>Standard</vt:lpwstr>
  </property>
  <property fmtid="{D5CDD505-2E9C-101B-9397-08002B2CF9AE}" pid="10" name="Sensitivity">
    <vt:lpwstr>Confidential (IP3)</vt:lpwstr>
  </property>
</Properties>
</file>