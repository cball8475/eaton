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Lessons learned issued with Required Practice (slide 2). Fill in LL number and date issued before release. Signed roster returned to EHS.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at every press brake, Steel Fab and Copper Fab, all shifts. Consequences for running a part by hand are communicated verbally, not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932688"/>
          </a:xfrm>
          <a:prstGeom prst="rect">
            <a:avLst/>
          </a:prstGeom>
          <a:solidFill>
            <a:srgbClr val="4472C4"/>
          </a:solidFill>
          <a:ln/>
        </p:spPr>
      </p:sp>
      <p:sp>
        <p:nvSpPr>
          <p:cNvPr id="3" name="Text 1"/>
          <p:cNvSpPr/>
          <p:nvPr/>
        </p:nvSpPr>
        <p:spPr>
          <a:xfrm>
            <a:off x="384048" y="54864"/>
            <a:ext cx="11430000" cy="384048"/>
          </a:xfrm>
          <a:prstGeom prst="rect">
            <a:avLst/>
          </a:prstGeom>
          <a:noFill/>
          <a:ln/>
        </p:spPr>
        <p:txBody>
          <a:bodyPr wrap="square" lIns="0" tIns="0" rIns="0" bIns="0" rtlCol="0" anchor="ctr"/>
          <a:lstStyle/>
          <a:p>
            <a:pPr indent="0" marL="0">
              <a:buNone/>
            </a:pPr>
            <a:r>
              <a:rPr lang="en-US" sz="2200" b="1" i="1" dirty="0">
                <a:solidFill>
                  <a:srgbClr val="FFFFFF"/>
                </a:solidFill>
                <a:latin typeface="Arial" pitchFamily="34" charset="0"/>
                <a:ea typeface="Arial" pitchFamily="34" charset="-122"/>
                <a:cs typeface="Arial" pitchFamily="34" charset="-120"/>
              </a:rPr>
              <a:t>Press Brake Hand Placement — Three Injuries, One Pinch Point</a:t>
            </a:r>
            <a:endParaRPr lang="en-US" sz="2200" dirty="0"/>
          </a:p>
        </p:txBody>
      </p:sp>
      <p:sp>
        <p:nvSpPr>
          <p:cNvPr id="4" name="Text 2"/>
          <p:cNvSpPr/>
          <p:nvPr/>
        </p:nvSpPr>
        <p:spPr>
          <a:xfrm>
            <a:off x="384048" y="429768"/>
            <a:ext cx="11430000" cy="237744"/>
          </a:xfrm>
          <a:prstGeom prst="rect">
            <a:avLst/>
          </a:prstGeom>
          <a:noFill/>
          <a:ln/>
        </p:spPr>
        <p:txBody>
          <a:bodyPr wrap="square" lIns="0" tIns="0" rIns="0" bIns="0" rtlCol="0" anchor="ctr"/>
          <a:lstStyle/>
          <a:p>
            <a:pPr indent="0" marL="0">
              <a:buNone/>
            </a:pPr>
            <a:r>
              <a:rPr lang="en-US" sz="1400" b="1" i="1" dirty="0">
                <a:solidFill>
                  <a:srgbClr val="FFFFFF"/>
                </a:solidFill>
                <a:latin typeface="Arial" pitchFamily="34" charset="0"/>
                <a:ea typeface="Arial" pitchFamily="34" charset="-122"/>
                <a:cs typeface="Arial" pitchFamily="34" charset="-120"/>
              </a:rPr>
              <a:t>[Date] — Eaton Sumter, SC</a:t>
            </a:r>
            <a:endParaRPr lang="en-US" sz="1400" dirty="0"/>
          </a:p>
        </p:txBody>
      </p:sp>
      <p:sp>
        <p:nvSpPr>
          <p:cNvPr id="5" name="Text 3"/>
          <p:cNvSpPr/>
          <p:nvPr/>
        </p:nvSpPr>
        <p:spPr>
          <a:xfrm>
            <a:off x="384048" y="658368"/>
            <a:ext cx="11430000" cy="228600"/>
          </a:xfrm>
          <a:prstGeom prst="rect">
            <a:avLst/>
          </a:prstGeom>
          <a:noFill/>
          <a:ln/>
        </p:spPr>
        <p:txBody>
          <a:bodyPr wrap="square" lIns="0" tIns="0" rIns="0" bIns="0" rtlCol="0" anchor="ctr"/>
          <a:lstStyle/>
          <a:p>
            <a:pPr indent="0" marL="0">
              <a:buNone/>
            </a:pPr>
            <a:r>
              <a:rPr lang="en-US" sz="1150" b="1" i="1" dirty="0">
                <a:solidFill>
                  <a:srgbClr val="FFFFFF"/>
                </a:solidFill>
                <a:latin typeface="Arial" pitchFamily="34" charset="0"/>
                <a:ea typeface="Arial" pitchFamily="34" charset="-122"/>
                <a:cs typeface="Arial" pitchFamily="34" charset="-120"/>
              </a:rPr>
              <a:t>Plant Manager: Stephen Krajcarski (Interim)</a:t>
            </a:r>
            <a:pPr indent="0" marL="0">
              <a:buNone/>
            </a:pPr>
            <a:r>
              <a:rPr lang="en-US" sz="1150" b="1" i="1" dirty="0">
                <a:solidFill>
                  <a:srgbClr val="FFFFFF"/>
                </a:solidFill>
                <a:latin typeface="Arial" pitchFamily="34" charset="0"/>
                <a:ea typeface="Arial" pitchFamily="34" charset="-122"/>
                <a:cs typeface="Arial" pitchFamily="34" charset="-120"/>
              </a:rPr>
              <a:t>        EHS Site Contact: Charlie Ball, Sr. EHS Engineer        Page 1 of 2</a:t>
            </a:r>
            <a:endParaRPr lang="en-US" sz="1150" dirty="0"/>
          </a:p>
        </p:txBody>
      </p:sp>
      <p:pic>
        <p:nvPicPr>
          <p:cNvPr id="6" name="Image 0" descr="/home/user/EATON/comms/img/press-brake-pinch-point.jpg">    </p:cNvPr>
          <p:cNvPicPr>
            <a:picLocks noChangeAspect="1"/>
          </p:cNvPicPr>
          <p:nvPr/>
        </p:nvPicPr>
        <p:blipFill>
          <a:blip r:embed="rId1"/>
          <a:stretch>
            <a:fillRect/>
          </a:stretch>
        </p:blipFill>
        <p:spPr>
          <a:xfrm>
            <a:off x="411480" y="1115568"/>
            <a:ext cx="4206240" cy="3163824"/>
          </a:xfrm>
          <a:prstGeom prst="rect">
            <a:avLst/>
          </a:prstGeom>
        </p:spPr>
      </p:pic>
      <p:sp>
        <p:nvSpPr>
          <p:cNvPr id="7" name="Text 4"/>
          <p:cNvSpPr/>
          <p:nvPr/>
        </p:nvSpPr>
        <p:spPr>
          <a:xfrm>
            <a:off x="411480" y="4315968"/>
            <a:ext cx="4206240" cy="457200"/>
          </a:xfrm>
          <a:prstGeom prst="rect">
            <a:avLst/>
          </a:prstGeom>
          <a:noFill/>
          <a:ln/>
        </p:spPr>
        <p:txBody>
          <a:bodyPr wrap="square" lIns="0" tIns="0" rIns="0" bIns="0" rtlCol="0" anchor="t"/>
          <a:lstStyle/>
          <a:p>
            <a:pPr indent="0" marL="0">
              <a:lnSpc>
                <a:spcPct val="95000"/>
              </a:lnSpc>
              <a:buNone/>
            </a:pPr>
            <a:r>
              <a:rPr lang="en-US" sz="900" dirty="0">
                <a:solidFill>
                  <a:srgbClr val="333333"/>
                </a:solidFill>
                <a:latin typeface="Arial" pitchFamily="34" charset="0"/>
                <a:ea typeface="Arial" pitchFamily="34" charset="-122"/>
                <a:cs typeface="Arial" pitchFamily="34" charset="-120"/>
              </a:rPr>
              <a:t>The hand is inside the pinch. When the ram comes down, it closes on the part right where the fingers are — at the front face of the die, outside anything the laser scanner covers.</a:t>
            </a:r>
            <a:endParaRPr lang="en-US" sz="900" dirty="0"/>
          </a:p>
        </p:txBody>
      </p:sp>
      <p:sp>
        <p:nvSpPr>
          <p:cNvPr id="8" name="Shape 5"/>
          <p:cNvSpPr/>
          <p:nvPr/>
        </p:nvSpPr>
        <p:spPr>
          <a:xfrm>
            <a:off x="411480" y="4864608"/>
            <a:ext cx="4206240" cy="1371600"/>
          </a:xfrm>
          <a:prstGeom prst="rect">
            <a:avLst/>
          </a:prstGeom>
          <a:solidFill>
            <a:srgbClr val="FFFFFF"/>
          </a:solidFill>
          <a:ln w="12700">
            <a:solidFill>
              <a:srgbClr val="A6A6A6"/>
            </a:solidFill>
            <a:prstDash val="solid"/>
          </a:ln>
        </p:spPr>
      </p:sp>
      <p:sp>
        <p:nvSpPr>
          <p:cNvPr id="9" name="Text 6"/>
          <p:cNvSpPr/>
          <p:nvPr/>
        </p:nvSpPr>
        <p:spPr>
          <a:xfrm>
            <a:off x="566928" y="4974336"/>
            <a:ext cx="3931920" cy="237744"/>
          </a:xfrm>
          <a:prstGeom prst="rect">
            <a:avLst/>
          </a:prstGeom>
          <a:noFill/>
          <a:ln/>
        </p:spPr>
        <p:txBody>
          <a:bodyPr wrap="square" lIns="0" tIns="0" rIns="0" bIns="0" rtlCol="0" anchor="ctr"/>
          <a:lstStyle/>
          <a:p>
            <a:pPr indent="0" marL="0">
              <a:buNone/>
            </a:pPr>
            <a:r>
              <a:rPr lang="en-US" sz="1150" b="1" i="1" u="sng" dirty="0">
                <a:solidFill>
                  <a:srgbClr val="000000"/>
                </a:solidFill>
                <a:latin typeface="Arial" pitchFamily="34" charset="0"/>
                <a:ea typeface="Arial" pitchFamily="34" charset="-122"/>
                <a:cs typeface="Arial" pitchFamily="34" charset="-120"/>
              </a:rPr>
              <a:t>How does this incident apply to you?</a:t>
            </a:r>
            <a:endParaRPr lang="en-US" sz="1150" dirty="0"/>
          </a:p>
        </p:txBody>
      </p:sp>
      <p:sp>
        <p:nvSpPr>
          <p:cNvPr id="10" name="Text 7"/>
          <p:cNvSpPr/>
          <p:nvPr/>
        </p:nvSpPr>
        <p:spPr>
          <a:xfrm>
            <a:off x="603504" y="5230368"/>
            <a:ext cx="3877056" cy="932688"/>
          </a:xfrm>
          <a:prstGeom prst="rect">
            <a:avLst/>
          </a:prstGeom>
          <a:noFill/>
          <a:ln/>
        </p:spPr>
        <p:txBody>
          <a:bodyPr wrap="square" lIns="0" tIns="0" rIns="0" bIns="0" rtlCol="0" anchor="t"/>
          <a:lstStyle/>
          <a:p>
            <a:pPr marL="342900" indent="-342900">
              <a:lnSpc>
                <a:spcPct val="92000"/>
              </a:lnSpc>
              <a:spcAft>
                <a:spcPts val="200"/>
              </a:spcAft>
              <a:buSzPct val="100000"/>
              <a:buFont typeface="+mj-lt"/>
              <a:buAutoNum type="arabicPeriod" startAt="1"/>
            </a:pPr>
            <a:r>
              <a:rPr lang="en-US" sz="900" dirty="0">
                <a:solidFill>
                  <a:srgbClr val="000000"/>
                </a:solidFill>
                <a:latin typeface="Arial" pitchFamily="34" charset="0"/>
                <a:ea typeface="Arial" pitchFamily="34" charset="-122"/>
                <a:cs typeface="Arial" pitchFamily="34" charset="-120"/>
              </a:rPr>
              <a:t>Are there parts in your area still being held by hand because no tool fits them — and has anyone been told?</a:t>
            </a:r>
            <a:endParaRPr lang="en-US" sz="900" dirty="0"/>
          </a:p>
          <a:p>
            <a:pPr marL="342900" indent="-342900">
              <a:lnSpc>
                <a:spcPct val="92000"/>
              </a:lnSpc>
              <a:spcAft>
                <a:spcPts val="200"/>
              </a:spcAft>
              <a:buSzPct val="100000"/>
              <a:buFont typeface="+mj-lt"/>
              <a:buAutoNum type="arabicPeriod" startAt="1"/>
            </a:pPr>
            <a:r>
              <a:rPr lang="en-US" sz="900" dirty="0">
                <a:solidFill>
                  <a:srgbClr val="000000"/>
                </a:solidFill>
                <a:latin typeface="Arial" pitchFamily="34" charset="0"/>
                <a:ea typeface="Arial" pitchFamily="34" charset="-122"/>
                <a:cs typeface="Arial" pitchFamily="34" charset="-120"/>
              </a:rPr>
              <a:t>Do you have a safeguard that covers only part of the hazard, so operators assume they are protected where they are not?</a:t>
            </a:r>
            <a:endParaRPr lang="en-US" sz="900" dirty="0"/>
          </a:p>
          <a:p>
            <a:pPr marL="342900" indent="-342900">
              <a:lnSpc>
                <a:spcPct val="92000"/>
              </a:lnSpc>
              <a:spcAft>
                <a:spcPts val="200"/>
              </a:spcAft>
              <a:buSzPct val="100000"/>
              <a:buFont typeface="+mj-lt"/>
              <a:buAutoNum type="arabicPeriod" startAt="1"/>
            </a:pPr>
            <a:r>
              <a:rPr lang="en-US" sz="900" dirty="0">
                <a:solidFill>
                  <a:srgbClr val="000000"/>
                </a:solidFill>
                <a:latin typeface="Arial" pitchFamily="34" charset="0"/>
                <a:ea typeface="Arial" pitchFamily="34" charset="-122"/>
                <a:cs typeface="Arial" pitchFamily="34" charset="-120"/>
              </a:rPr>
              <a:t>When a corrective action is installed at your workstation, how do you know it is actually being used?</a:t>
            </a:r>
            <a:endParaRPr lang="en-US" sz="900" dirty="0"/>
          </a:p>
        </p:txBody>
      </p:sp>
      <p:sp>
        <p:nvSpPr>
          <p:cNvPr id="11" name="Text 8"/>
          <p:cNvSpPr/>
          <p:nvPr/>
        </p:nvSpPr>
        <p:spPr>
          <a:xfrm>
            <a:off x="4864608" y="1097280"/>
            <a:ext cx="6931152" cy="173736"/>
          </a:xfrm>
          <a:prstGeom prst="rect">
            <a:avLst/>
          </a:prstGeom>
          <a:noFill/>
          <a:ln/>
        </p:spPr>
        <p:txBody>
          <a:bodyPr wrap="square" lIns="0" tIns="0" rIns="0" bIns="0" rtlCol="0" anchor="ctr"/>
          <a:lstStyle/>
          <a:p>
            <a:pPr indent="0" marL="0">
              <a:buNone/>
            </a:pPr>
            <a:r>
              <a:rPr lang="en-US" sz="1100" b="1" i="1" u="sng" dirty="0">
                <a:solidFill>
                  <a:srgbClr val="000000"/>
                </a:solidFill>
                <a:latin typeface="Arial" pitchFamily="34" charset="0"/>
                <a:ea typeface="Arial" pitchFamily="34" charset="-122"/>
                <a:cs typeface="Arial" pitchFamily="34" charset="-120"/>
              </a:rPr>
              <a:t>Incident Description:</a:t>
            </a:r>
            <a:endParaRPr lang="en-US" sz="1100" dirty="0"/>
          </a:p>
        </p:txBody>
      </p:sp>
      <p:sp>
        <p:nvSpPr>
          <p:cNvPr id="12" name="Text 9"/>
          <p:cNvSpPr/>
          <p:nvPr/>
        </p:nvSpPr>
        <p:spPr>
          <a:xfrm>
            <a:off x="4882896" y="1271016"/>
            <a:ext cx="6912864" cy="1145780"/>
          </a:xfrm>
          <a:prstGeom prst="rect">
            <a:avLst/>
          </a:prstGeom>
          <a:noFill/>
          <a:ln/>
        </p:spPr>
        <p:txBody>
          <a:bodyPr wrap="square" lIns="0" tIns="0" rIns="0" bIns="0" rtlCol="0" anchor="t"/>
          <a:lstStyle/>
          <a:p>
            <a:pPr indent="0" marL="0">
              <a:lnSpc>
                <a:spcPct val="92000"/>
              </a:lnSpc>
              <a:spcAft>
                <a:spcPts val="200"/>
              </a:spcAft>
              <a:buNone/>
            </a:pPr>
            <a:r>
              <a:rPr lang="en-US" sz="850" dirty="0">
                <a:solidFill>
                  <a:srgbClr val="000000"/>
                </a:solidFill>
                <a:latin typeface="Arial" pitchFamily="34" charset="0"/>
                <a:ea typeface="Arial" pitchFamily="34" charset="-122"/>
                <a:cs typeface="Arial" pitchFamily="34" charset="-120"/>
              </a:rPr>
              <a:t>Three operators have been injured on Sumter press brakes since 2023, on three different machines and three different shifts.</a:t>
            </a:r>
            <a:endParaRPr lang="en-US" sz="850" dirty="0"/>
          </a:p>
          <a:p>
            <a:pPr indent="0" marL="0">
              <a:lnSpc>
                <a:spcPct val="92000"/>
              </a:lnSpc>
              <a:spcAft>
                <a:spcPts val="200"/>
              </a:spcAft>
              <a:buNone/>
            </a:pPr>
            <a:r>
              <a:rPr lang="en-US" sz="850" dirty="0">
                <a:solidFill>
                  <a:srgbClr val="000000"/>
                </a:solidFill>
                <a:latin typeface="Arial" pitchFamily="34" charset="0"/>
                <a:ea typeface="Arial" pitchFamily="34" charset="-122"/>
                <a:cs typeface="Arial" pitchFamily="34" charset="-120"/>
              </a:rPr>
              <a:t>8/29/2023, PB14 — operator reached in to remove a finished part; his foot contacted the pedal and the upper die traveled down. Right ring finger fracture. Recordable, restricted work.</a:t>
            </a:r>
            <a:endParaRPr lang="en-US" sz="850" dirty="0"/>
          </a:p>
          <a:p>
            <a:pPr indent="0" marL="0">
              <a:lnSpc>
                <a:spcPct val="92000"/>
              </a:lnSpc>
              <a:spcAft>
                <a:spcPts val="200"/>
              </a:spcAft>
              <a:buNone/>
            </a:pPr>
            <a:r>
              <a:rPr lang="en-US" sz="850" dirty="0">
                <a:solidFill>
                  <a:srgbClr val="000000"/>
                </a:solidFill>
                <a:latin typeface="Arial" pitchFamily="34" charset="0"/>
                <a:ea typeface="Arial" pitchFamily="34" charset="-122"/>
                <a:cs typeface="Arial" pitchFamily="34" charset="-120"/>
              </a:rPr>
              <a:t>2/6/2025, PB27 — new operator checked a bend angle during setup using a scrap piece; the scrap bent and pulled his hand into the die. Partial amputation, right middle finger. Recordable, restricted work.</a:t>
            </a:r>
            <a:endParaRPr lang="en-US" sz="850" dirty="0"/>
          </a:p>
          <a:p>
            <a:pPr indent="0" marL="0">
              <a:lnSpc>
                <a:spcPct val="92000"/>
              </a:lnSpc>
              <a:spcAft>
                <a:spcPts val="200"/>
              </a:spcAft>
              <a:buNone/>
            </a:pPr>
            <a:r>
              <a:rPr lang="en-US" sz="850" dirty="0">
                <a:solidFill>
                  <a:srgbClr val="000000"/>
                </a:solidFill>
                <a:latin typeface="Arial" pitchFamily="34" charset="0"/>
                <a:ea typeface="Arial" pitchFamily="34" charset="-122"/>
                <a:cs typeface="Arial" pitchFamily="34" charset="-120"/>
              </a:rPr>
              <a:t>6/26/2026, PB19 — operator’s thumb caught in the same pinch. Treated on site, first aid.</a:t>
            </a:r>
            <a:endParaRPr lang="en-US" sz="850" dirty="0"/>
          </a:p>
          <a:p>
            <a:pPr indent="0" marL="0">
              <a:lnSpc>
                <a:spcPct val="92000"/>
              </a:lnSpc>
              <a:spcAft>
                <a:spcPts val="200"/>
              </a:spcAft>
              <a:buNone/>
            </a:pPr>
            <a:r>
              <a:rPr lang="en-US" sz="850" dirty="0">
                <a:solidFill>
                  <a:srgbClr val="000000"/>
                </a:solidFill>
                <a:latin typeface="Arial" pitchFamily="34" charset="0"/>
                <a:ea typeface="Arial" pitchFamily="34" charset="-122"/>
                <a:cs typeface="Arial" pitchFamily="34" charset="-120"/>
              </a:rPr>
              <a:t>In every event the hand was pinched between the ram and the part at the front face of the die, not at the mouth of the press. The machines were operating as designed.</a:t>
            </a:r>
            <a:endParaRPr lang="en-US" sz="850" dirty="0"/>
          </a:p>
        </p:txBody>
      </p:sp>
      <p:sp>
        <p:nvSpPr>
          <p:cNvPr id="13" name="Text 10"/>
          <p:cNvSpPr/>
          <p:nvPr/>
        </p:nvSpPr>
        <p:spPr>
          <a:xfrm>
            <a:off x="4864608" y="2462516"/>
            <a:ext cx="6931152" cy="173736"/>
          </a:xfrm>
          <a:prstGeom prst="rect">
            <a:avLst/>
          </a:prstGeom>
          <a:noFill/>
          <a:ln/>
        </p:spPr>
        <p:txBody>
          <a:bodyPr wrap="square" lIns="0" tIns="0" rIns="0" bIns="0" rtlCol="0" anchor="ctr"/>
          <a:lstStyle/>
          <a:p>
            <a:pPr indent="0" marL="0">
              <a:buNone/>
            </a:pPr>
            <a:r>
              <a:rPr lang="en-US" sz="1100" b="1" i="1" u="sng" dirty="0">
                <a:solidFill>
                  <a:srgbClr val="000000"/>
                </a:solidFill>
                <a:latin typeface="Arial" pitchFamily="34" charset="0"/>
                <a:ea typeface="Arial" pitchFamily="34" charset="-122"/>
                <a:cs typeface="Arial" pitchFamily="34" charset="-120"/>
              </a:rPr>
              <a:t>Investigation Findings:</a:t>
            </a:r>
            <a:endParaRPr lang="en-US" sz="1100" dirty="0"/>
          </a:p>
        </p:txBody>
      </p:sp>
      <p:sp>
        <p:nvSpPr>
          <p:cNvPr id="14" name="Text 11"/>
          <p:cNvSpPr/>
          <p:nvPr/>
        </p:nvSpPr>
        <p:spPr>
          <a:xfrm>
            <a:off x="4882896" y="2636252"/>
            <a:ext cx="6912864" cy="866193"/>
          </a:xfrm>
          <a:prstGeom prst="rect">
            <a:avLst/>
          </a:prstGeom>
          <a:noFill/>
          <a:ln/>
        </p:spPr>
        <p:txBody>
          <a:bodyPr wrap="square" lIns="0" tIns="0" rIns="0" bIns="0" rtlCol="0" anchor="t"/>
          <a:lstStyle/>
          <a:p>
            <a:pPr marL="342900" indent="-342900">
              <a:lnSpc>
                <a:spcPct val="92000"/>
              </a:lnSpc>
              <a:spcAft>
                <a:spcPts val="200"/>
              </a:spcAft>
              <a:buSzPct val="100000"/>
              <a:buFont typeface="+mj-lt"/>
              <a:buAutoNum type="arabicPeriod" startAt="1"/>
            </a:pPr>
            <a:r>
              <a:rPr lang="en-US" sz="850" dirty="0">
                <a:solidFill>
                  <a:srgbClr val="000000"/>
                </a:solidFill>
                <a:latin typeface="Arial" pitchFamily="34" charset="0"/>
                <a:ea typeface="Arial" pitchFamily="34" charset="-122"/>
                <a:cs typeface="Arial" pitchFamily="34" charset="-120"/>
              </a:rPr>
              <a:t>The laser scanner guards the mouth of the press and covers only the middle of the gap. It does not reach the ram-to-part pinch at the front of the die, which is where all three injuries occurred.</a:t>
            </a:r>
            <a:endParaRPr lang="en-US" sz="850" dirty="0"/>
          </a:p>
          <a:p>
            <a:pPr marL="342900" indent="-342900">
              <a:lnSpc>
                <a:spcPct val="92000"/>
              </a:lnSpc>
              <a:spcAft>
                <a:spcPts val="200"/>
              </a:spcAft>
              <a:buSzPct val="100000"/>
              <a:buFont typeface="+mj-lt"/>
              <a:buAutoNum type="arabicPeriod" startAt="1"/>
            </a:pPr>
            <a:r>
              <a:rPr lang="en-US" sz="850" dirty="0">
                <a:solidFill>
                  <a:srgbClr val="000000"/>
                </a:solidFill>
                <a:latin typeface="Arial" pitchFamily="34" charset="0"/>
                <a:ea typeface="Arial" pitchFamily="34" charset="-122"/>
                <a:cs typeface="Arial" pitchFamily="34" charset="-120"/>
              </a:rPr>
              <a:t>Two of the three injuries occurred during setup or part removal, outside a normal production cycle.</a:t>
            </a:r>
            <a:endParaRPr lang="en-US" sz="850" dirty="0"/>
          </a:p>
          <a:p>
            <a:pPr marL="342900" indent="-342900">
              <a:lnSpc>
                <a:spcPct val="92000"/>
              </a:lnSpc>
              <a:spcAft>
                <a:spcPts val="200"/>
              </a:spcAft>
              <a:buSzPct val="100000"/>
              <a:buFont typeface="+mj-lt"/>
              <a:buAutoNum type="arabicPeriod" startAt="1"/>
            </a:pPr>
            <a:r>
              <a:rPr lang="en-US" sz="850" dirty="0">
                <a:solidFill>
                  <a:srgbClr val="000000"/>
                </a:solidFill>
                <a:latin typeface="Arial" pitchFamily="34" charset="0"/>
                <a:ea typeface="Arial" pitchFamily="34" charset="-122"/>
                <a:cs typeface="Arial" pitchFamily="34" charset="-120"/>
              </a:rPr>
              <a:t>Approved hand tools were installed at the brakes as a corrective action after the 2023 and 2025 events and were present at PB19 on 6/26/2026. They were not in use.</a:t>
            </a:r>
            <a:endParaRPr lang="en-US" sz="850" dirty="0"/>
          </a:p>
          <a:p>
            <a:pPr marL="342900" indent="-342900">
              <a:lnSpc>
                <a:spcPct val="92000"/>
              </a:lnSpc>
              <a:spcAft>
                <a:spcPts val="200"/>
              </a:spcAft>
              <a:buSzPct val="100000"/>
              <a:buFont typeface="+mj-lt"/>
              <a:buAutoNum type="arabicPeriod" startAt="1"/>
            </a:pPr>
            <a:r>
              <a:rPr lang="en-US" sz="850" dirty="0">
                <a:solidFill>
                  <a:srgbClr val="000000"/>
                </a:solidFill>
                <a:latin typeface="Arial" pitchFamily="34" charset="0"/>
                <a:ea typeface="Arial" pitchFamily="34" charset="-122"/>
                <a:cs typeface="Arial" pitchFamily="34" charset="-120"/>
              </a:rPr>
              <a:t>Magnets do not hold copper, which removes one of the approved methods in the copper shop.</a:t>
            </a:r>
            <a:endParaRPr lang="en-US" sz="850" dirty="0"/>
          </a:p>
        </p:txBody>
      </p:sp>
      <p:sp>
        <p:nvSpPr>
          <p:cNvPr id="15" name="Text 12"/>
          <p:cNvSpPr/>
          <p:nvPr/>
        </p:nvSpPr>
        <p:spPr>
          <a:xfrm>
            <a:off x="4864608" y="3548165"/>
            <a:ext cx="6931152" cy="173736"/>
          </a:xfrm>
          <a:prstGeom prst="rect">
            <a:avLst/>
          </a:prstGeom>
          <a:noFill/>
          <a:ln/>
        </p:spPr>
        <p:txBody>
          <a:bodyPr wrap="square" lIns="0" tIns="0" rIns="0" bIns="0" rtlCol="0" anchor="ctr"/>
          <a:lstStyle/>
          <a:p>
            <a:pPr indent="0" marL="0">
              <a:buNone/>
            </a:pPr>
            <a:r>
              <a:rPr lang="en-US" sz="1100" b="1" i="1" u="sng" dirty="0">
                <a:solidFill>
                  <a:srgbClr val="000000"/>
                </a:solidFill>
                <a:latin typeface="Arial" pitchFamily="34" charset="0"/>
                <a:ea typeface="Arial" pitchFamily="34" charset="-122"/>
                <a:cs typeface="Arial" pitchFamily="34" charset="-120"/>
              </a:rPr>
              <a:t>Root Causes and Management System Gaps:</a:t>
            </a:r>
            <a:endParaRPr lang="en-US" sz="1100" dirty="0"/>
          </a:p>
        </p:txBody>
      </p:sp>
      <p:sp>
        <p:nvSpPr>
          <p:cNvPr id="16" name="Text 13"/>
          <p:cNvSpPr/>
          <p:nvPr/>
        </p:nvSpPr>
        <p:spPr>
          <a:xfrm>
            <a:off x="4882896" y="3721901"/>
            <a:ext cx="6912864" cy="558077"/>
          </a:xfrm>
          <a:prstGeom prst="rect">
            <a:avLst/>
          </a:prstGeom>
          <a:noFill/>
          <a:ln/>
        </p:spPr>
        <p:txBody>
          <a:bodyPr wrap="square" lIns="0" tIns="0" rIns="0" bIns="0" rtlCol="0" anchor="t"/>
          <a:lstStyle/>
          <a:p>
            <a:pPr marL="342900" indent="-342900">
              <a:lnSpc>
                <a:spcPct val="92000"/>
              </a:lnSpc>
              <a:spcAft>
                <a:spcPts val="200"/>
              </a:spcAft>
              <a:buSzPct val="100000"/>
              <a:buFont typeface="+mj-lt"/>
              <a:buAutoNum type="arabicPeriod" startAt="1"/>
            </a:pPr>
            <a:r>
              <a:rPr lang="en-US" sz="850" dirty="0">
                <a:solidFill>
                  <a:srgbClr val="000000"/>
                </a:solidFill>
                <a:latin typeface="Arial" pitchFamily="34" charset="0"/>
                <a:ea typeface="Arial" pitchFamily="34" charset="-122"/>
                <a:cs typeface="Arial" pitchFamily="34" charset="-120"/>
              </a:rPr>
              <a:t>Use of the approved methods was never verified. Corrective actions from 2023 and 2025 were closed when tools were installed, not on evidence that operators were using them.</a:t>
            </a:r>
            <a:endParaRPr lang="en-US" sz="850" dirty="0"/>
          </a:p>
          <a:p>
            <a:pPr marL="342900" indent="-342900">
              <a:lnSpc>
                <a:spcPct val="92000"/>
              </a:lnSpc>
              <a:spcAft>
                <a:spcPts val="200"/>
              </a:spcAft>
              <a:buSzPct val="100000"/>
              <a:buFont typeface="+mj-lt"/>
              <a:buAutoNum type="arabicPeriod" startAt="1"/>
            </a:pPr>
            <a:r>
              <a:rPr lang="en-US" sz="850" dirty="0">
                <a:solidFill>
                  <a:srgbClr val="000000"/>
                </a:solidFill>
                <a:latin typeface="Arial" pitchFamily="34" charset="0"/>
                <a:ea typeface="Arial" pitchFamily="34" charset="-122"/>
                <a:cs typeface="Arial" pitchFamily="34" charset="-120"/>
              </a:rPr>
              <a:t>Engineered guarding does not cover the ram-to-part pinch, so the process depends entirely on operator method — and setup and part removal are not treated as point-of-operation work in training or on method sheets.</a:t>
            </a:r>
            <a:endParaRPr lang="en-US" sz="850" dirty="0"/>
          </a:p>
        </p:txBody>
      </p:sp>
      <p:sp>
        <p:nvSpPr>
          <p:cNvPr id="17" name="Text 14"/>
          <p:cNvSpPr/>
          <p:nvPr/>
        </p:nvSpPr>
        <p:spPr>
          <a:xfrm>
            <a:off x="4864608" y="4325697"/>
            <a:ext cx="6931152" cy="173736"/>
          </a:xfrm>
          <a:prstGeom prst="rect">
            <a:avLst/>
          </a:prstGeom>
          <a:noFill/>
          <a:ln/>
        </p:spPr>
        <p:txBody>
          <a:bodyPr wrap="square" lIns="0" tIns="0" rIns="0" bIns="0" rtlCol="0" anchor="ctr"/>
          <a:lstStyle/>
          <a:p>
            <a:pPr indent="0" marL="0">
              <a:buNone/>
            </a:pPr>
            <a:r>
              <a:rPr lang="en-US" sz="1100" b="1" i="1" u="sng" dirty="0">
                <a:solidFill>
                  <a:srgbClr val="000000"/>
                </a:solidFill>
                <a:latin typeface="Arial" pitchFamily="34" charset="0"/>
                <a:ea typeface="Arial" pitchFamily="34" charset="-122"/>
                <a:cs typeface="Arial" pitchFamily="34" charset="-120"/>
              </a:rPr>
              <a:t>Interim Containment Actions:</a:t>
            </a:r>
            <a:endParaRPr lang="en-US" sz="1100" dirty="0"/>
          </a:p>
        </p:txBody>
      </p:sp>
      <p:sp>
        <p:nvSpPr>
          <p:cNvPr id="18" name="Text 15"/>
          <p:cNvSpPr/>
          <p:nvPr/>
        </p:nvSpPr>
        <p:spPr>
          <a:xfrm>
            <a:off x="4882896" y="4499433"/>
            <a:ext cx="6912864" cy="740664"/>
          </a:xfrm>
          <a:prstGeom prst="rect">
            <a:avLst/>
          </a:prstGeom>
          <a:noFill/>
          <a:ln/>
        </p:spPr>
        <p:txBody>
          <a:bodyPr wrap="square" lIns="0" tIns="0" rIns="0" bIns="0" rtlCol="0" anchor="t"/>
          <a:lstStyle/>
          <a:p>
            <a:pPr marL="342900" indent="-342900">
              <a:lnSpc>
                <a:spcPct val="92000"/>
              </a:lnSpc>
              <a:spcAft>
                <a:spcPts val="200"/>
              </a:spcAft>
              <a:buSzPct val="100000"/>
              <a:buFont typeface="+mj-lt"/>
              <a:buAutoNum type="arabicPeriod" startAt="1"/>
            </a:pPr>
            <a:r>
              <a:rPr lang="en-US" sz="850" dirty="0">
                <a:solidFill>
                  <a:srgbClr val="000000"/>
                </a:solidFill>
                <a:latin typeface="Arial" pitchFamily="34" charset="0"/>
                <a:ea typeface="Arial" pitchFamily="34" charset="-122"/>
                <a:cs typeface="Arial" pitchFamily="34" charset="-120"/>
              </a:rPr>
              <a:t>This lessons learned reviewed with all press brake operators, setup personnel, team leads, and supervisors on all shifts; signed roster returned to EHS.</a:t>
            </a:r>
            <a:endParaRPr lang="en-US" sz="850" dirty="0"/>
          </a:p>
          <a:p>
            <a:pPr marL="342900" indent="-342900">
              <a:lnSpc>
                <a:spcPct val="92000"/>
              </a:lnSpc>
              <a:spcAft>
                <a:spcPts val="200"/>
              </a:spcAft>
              <a:buSzPct val="100000"/>
              <a:buFont typeface="+mj-lt"/>
              <a:buAutoNum type="arabicPeriod" startAt="1"/>
            </a:pPr>
            <a:r>
              <a:rPr lang="en-US" sz="850" dirty="0">
                <a:solidFill>
                  <a:srgbClr val="000000"/>
                </a:solidFill>
                <a:latin typeface="Arial" pitchFamily="34" charset="0"/>
                <a:ea typeface="Arial" pitchFamily="34" charset="-122"/>
                <a:cs typeface="Arial" pitchFamily="34" charset="-120"/>
              </a:rPr>
              <a:t>Approved hand tools verified present at every press brake prior to the review.</a:t>
            </a:r>
            <a:endParaRPr lang="en-US" sz="850" dirty="0"/>
          </a:p>
          <a:p>
            <a:pPr marL="342900" indent="-342900">
              <a:lnSpc>
                <a:spcPct val="92000"/>
              </a:lnSpc>
              <a:spcAft>
                <a:spcPts val="200"/>
              </a:spcAft>
              <a:buSzPct val="100000"/>
              <a:buFont typeface="+mj-lt"/>
              <a:buAutoNum type="arabicPeriod" startAt="1"/>
            </a:pPr>
            <a:r>
              <a:rPr lang="en-US" sz="850" dirty="0">
                <a:solidFill>
                  <a:srgbClr val="000000"/>
                </a:solidFill>
                <a:latin typeface="Arial" pitchFamily="34" charset="0"/>
                <a:ea typeface="Arial" pitchFamily="34" charset="-122"/>
                <a:cs typeface="Arial" pitchFamily="34" charset="-120"/>
              </a:rPr>
              <a:t>Slide 2 (Required Practice) posted at every press brake in Steel Fab and Copper Fab.</a:t>
            </a:r>
            <a:endParaRPr lang="en-US" sz="850" dirty="0"/>
          </a:p>
          <a:p>
            <a:pPr marL="342900" indent="-342900">
              <a:lnSpc>
                <a:spcPct val="92000"/>
              </a:lnSpc>
              <a:spcAft>
                <a:spcPts val="200"/>
              </a:spcAft>
              <a:buSzPct val="100000"/>
              <a:buFont typeface="+mj-lt"/>
              <a:buAutoNum type="arabicPeriod" startAt="1"/>
            </a:pPr>
            <a:r>
              <a:rPr lang="en-US" sz="850" dirty="0">
                <a:solidFill>
                  <a:srgbClr val="000000"/>
                </a:solidFill>
                <a:latin typeface="Arial" pitchFamily="34" charset="0"/>
                <a:ea typeface="Arial" pitchFamily="34" charset="-122"/>
                <a:cs typeface="Arial" pitchFamily="34" charset="-120"/>
              </a:rPr>
              <a:t>Random verification audits by EHS and area supervisors begin on issue of this document.</a:t>
            </a:r>
            <a:endParaRPr lang="en-US" sz="850" dirty="0"/>
          </a:p>
        </p:txBody>
      </p:sp>
      <p:sp>
        <p:nvSpPr>
          <p:cNvPr id="19" name="Text 16"/>
          <p:cNvSpPr/>
          <p:nvPr/>
        </p:nvSpPr>
        <p:spPr>
          <a:xfrm>
            <a:off x="4864608" y="5285817"/>
            <a:ext cx="6931152" cy="173736"/>
          </a:xfrm>
          <a:prstGeom prst="rect">
            <a:avLst/>
          </a:prstGeom>
          <a:noFill/>
          <a:ln/>
        </p:spPr>
        <p:txBody>
          <a:bodyPr wrap="square" lIns="0" tIns="0" rIns="0" bIns="0" rtlCol="0" anchor="ctr"/>
          <a:lstStyle/>
          <a:p>
            <a:pPr indent="0" marL="0">
              <a:buNone/>
            </a:pPr>
            <a:r>
              <a:rPr lang="en-US" sz="1100" b="1" i="1" u="sng" dirty="0">
                <a:solidFill>
                  <a:srgbClr val="000000"/>
                </a:solidFill>
                <a:latin typeface="Arial" pitchFamily="34" charset="0"/>
                <a:ea typeface="Arial" pitchFamily="34" charset="-122"/>
                <a:cs typeface="Arial" pitchFamily="34" charset="-120"/>
              </a:rPr>
              <a:t>Preventive &amp; Corrective Actions:</a:t>
            </a:r>
            <a:endParaRPr lang="en-US" sz="1100" dirty="0"/>
          </a:p>
        </p:txBody>
      </p:sp>
      <p:sp>
        <p:nvSpPr>
          <p:cNvPr id="20" name="Text 17"/>
          <p:cNvSpPr/>
          <p:nvPr/>
        </p:nvSpPr>
        <p:spPr>
          <a:xfrm>
            <a:off x="4882896" y="5459553"/>
            <a:ext cx="6912864" cy="712135"/>
          </a:xfrm>
          <a:prstGeom prst="rect">
            <a:avLst/>
          </a:prstGeom>
          <a:noFill/>
          <a:ln/>
        </p:spPr>
        <p:txBody>
          <a:bodyPr wrap="square" lIns="0" tIns="0" rIns="0" bIns="0" rtlCol="0" anchor="t"/>
          <a:lstStyle/>
          <a:p>
            <a:pPr marL="342900" indent="-342900">
              <a:lnSpc>
                <a:spcPct val="92000"/>
              </a:lnSpc>
              <a:spcAft>
                <a:spcPts val="200"/>
              </a:spcAft>
              <a:buSzPct val="100000"/>
              <a:buFont typeface="+mj-lt"/>
              <a:buAutoNum type="arabicPeriod" startAt="1"/>
            </a:pPr>
            <a:r>
              <a:rPr lang="en-US" sz="850" dirty="0">
                <a:solidFill>
                  <a:srgbClr val="000000"/>
                </a:solidFill>
                <a:latin typeface="Arial" pitchFamily="34" charset="0"/>
                <a:ea typeface="Arial" pitchFamily="34" charset="-122"/>
                <a:cs typeface="Arial" pitchFamily="34" charset="-120"/>
              </a:rPr>
              <a:t>No hands within 3 in. of the die, using one of four approved methods (next page) — added to press brake method sheets and operator training.</a:t>
            </a:r>
            <a:endParaRPr lang="en-US" sz="850" dirty="0"/>
          </a:p>
          <a:p>
            <a:pPr marL="342900" indent="-342900">
              <a:lnSpc>
                <a:spcPct val="92000"/>
              </a:lnSpc>
              <a:spcAft>
                <a:spcPts val="200"/>
              </a:spcAft>
              <a:buSzPct val="100000"/>
              <a:buFont typeface="+mj-lt"/>
              <a:buAutoNum type="arabicPeriod" startAt="1"/>
            </a:pPr>
            <a:r>
              <a:rPr lang="en-US" sz="850" dirty="0">
                <a:solidFill>
                  <a:srgbClr val="000000"/>
                </a:solidFill>
                <a:latin typeface="Arial" pitchFamily="34" charset="0"/>
                <a:ea typeface="Arial" pitchFamily="34" charset="-122"/>
                <a:cs typeface="Arial" pitchFamily="34" charset="-120"/>
              </a:rPr>
              <a:t>Random audits of press brake operations on all shifts by EHS and area supervisors; findings logged and tracked to closure in Benchmark.</a:t>
            </a:r>
            <a:endParaRPr lang="en-US" sz="850" dirty="0"/>
          </a:p>
          <a:p>
            <a:pPr marL="342900" indent="-342900">
              <a:lnSpc>
                <a:spcPct val="92000"/>
              </a:lnSpc>
              <a:spcAft>
                <a:spcPts val="200"/>
              </a:spcAft>
              <a:buSzPct val="100000"/>
              <a:buFont typeface="+mj-lt"/>
              <a:buAutoNum type="arabicPeriod" startAt="1"/>
            </a:pPr>
            <a:r>
              <a:rPr lang="en-US" sz="850" dirty="0">
                <a:solidFill>
                  <a:srgbClr val="000000"/>
                </a:solidFill>
                <a:latin typeface="Arial" pitchFamily="34" charset="0"/>
                <a:ea typeface="Arial" pitchFamily="34" charset="-122"/>
                <a:cs typeface="Arial" pitchFamily="34" charset="-120"/>
              </a:rPr>
              <a:t>Continue routing high-risk parts to safe equipment; finalize the high-risk-part list and the routing target.</a:t>
            </a:r>
            <a:endParaRPr lang="en-US" sz="850" dirty="0"/>
          </a:p>
        </p:txBody>
      </p:sp>
      <p:sp>
        <p:nvSpPr>
          <p:cNvPr id="21" name="Text 18"/>
          <p:cNvSpPr/>
          <p:nvPr/>
        </p:nvSpPr>
        <p:spPr>
          <a:xfrm>
            <a:off x="384048" y="6327648"/>
            <a:ext cx="2011680" cy="329184"/>
          </a:xfrm>
          <a:prstGeom prst="rect">
            <a:avLst/>
          </a:prstGeom>
          <a:noFill/>
          <a:ln/>
        </p:spPr>
        <p:txBody>
          <a:bodyPr wrap="square" lIns="0" tIns="0" rIns="0" bIns="0" rtlCol="0" anchor="ctr"/>
          <a:lstStyle/>
          <a:p>
            <a:pPr indent="0" marL="0">
              <a:buNone/>
            </a:pPr>
            <a:r>
              <a:rPr lang="en-US" sz="1600" b="1" spc="100" kern="0" dirty="0">
                <a:solidFill>
                  <a:srgbClr val="0072CE"/>
                </a:solidFill>
                <a:latin typeface="Arial" pitchFamily="34" charset="0"/>
                <a:ea typeface="Arial" pitchFamily="34" charset="-122"/>
                <a:cs typeface="Arial" pitchFamily="34" charset="-120"/>
              </a:rPr>
              <a:t>E·A·T·N</a:t>
            </a:r>
            <a:endParaRPr lang="en-US" sz="1600" dirty="0"/>
          </a:p>
        </p:txBody>
      </p:sp>
      <p:sp>
        <p:nvSpPr>
          <p:cNvPr id="22" name="Text 19"/>
          <p:cNvSpPr/>
          <p:nvPr/>
        </p:nvSpPr>
        <p:spPr>
          <a:xfrm>
            <a:off x="4023360" y="6327648"/>
            <a:ext cx="4114800" cy="329184"/>
          </a:xfrm>
          <a:prstGeom prst="rect">
            <a:avLst/>
          </a:prstGeom>
          <a:noFill/>
          <a:ln/>
        </p:spPr>
        <p:txBody>
          <a:bodyPr wrap="square" lIns="0" tIns="0" rIns="0" bIns="0" rtlCol="0" anchor="ctr"/>
          <a:lstStyle/>
          <a:p>
            <a:pPr algn="ctr" indent="0" marL="0">
              <a:buNone/>
            </a:pPr>
            <a:r>
              <a:rPr lang="en-US" sz="1000" dirty="0">
                <a:solidFill>
                  <a:srgbClr val="444444"/>
                </a:solidFill>
                <a:latin typeface="Arial" pitchFamily="34" charset="0"/>
                <a:ea typeface="Arial" pitchFamily="34" charset="-122"/>
                <a:cs typeface="Arial" pitchFamily="34" charset="-120"/>
              </a:rPr>
              <a:t>© 2026 Eaton. All Rights Reserved.</a:t>
            </a:r>
            <a:endParaRPr lang="en-US" sz="1000" dirty="0"/>
          </a:p>
        </p:txBody>
      </p:sp>
      <p:sp>
        <p:nvSpPr>
          <p:cNvPr id="23" name="Shape 20"/>
          <p:cNvSpPr/>
          <p:nvPr/>
        </p:nvSpPr>
        <p:spPr>
          <a:xfrm>
            <a:off x="8641080" y="6364224"/>
            <a:ext cx="3154680" cy="274320"/>
          </a:xfrm>
          <a:prstGeom prst="rect">
            <a:avLst/>
          </a:prstGeom>
          <a:solidFill>
            <a:srgbClr val="1F3864"/>
          </a:solidFill>
          <a:ln/>
        </p:spPr>
      </p:sp>
      <p:sp>
        <p:nvSpPr>
          <p:cNvPr id="24" name="Text 21"/>
          <p:cNvSpPr/>
          <p:nvPr/>
        </p:nvSpPr>
        <p:spPr>
          <a:xfrm>
            <a:off x="8641080" y="6364224"/>
            <a:ext cx="3154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Environment, Health &amp; Safety Lessons Learned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932688"/>
          </a:xfrm>
          <a:prstGeom prst="rect">
            <a:avLst/>
          </a:prstGeom>
          <a:solidFill>
            <a:srgbClr val="4472C4"/>
          </a:solidFill>
          <a:ln/>
        </p:spPr>
      </p:sp>
      <p:sp>
        <p:nvSpPr>
          <p:cNvPr id="3" name="Text 1"/>
          <p:cNvSpPr/>
          <p:nvPr/>
        </p:nvSpPr>
        <p:spPr>
          <a:xfrm>
            <a:off x="384048" y="54864"/>
            <a:ext cx="11430000" cy="384048"/>
          </a:xfrm>
          <a:prstGeom prst="rect">
            <a:avLst/>
          </a:prstGeom>
          <a:noFill/>
          <a:ln/>
        </p:spPr>
        <p:txBody>
          <a:bodyPr wrap="square" lIns="0" tIns="0" rIns="0" bIns="0" rtlCol="0" anchor="ctr"/>
          <a:lstStyle/>
          <a:p>
            <a:pPr indent="0" marL="0">
              <a:buNone/>
            </a:pPr>
            <a:r>
              <a:rPr lang="en-US" sz="2200" b="1" i="1" dirty="0">
                <a:solidFill>
                  <a:srgbClr val="FFFFFF"/>
                </a:solidFill>
                <a:latin typeface="Arial" pitchFamily="34" charset="0"/>
                <a:ea typeface="Arial" pitchFamily="34" charset="-122"/>
                <a:cs typeface="Arial" pitchFamily="34" charset="-120"/>
              </a:rPr>
              <a:t>Required Practice — No Hands Within 3 Inches of the Die</a:t>
            </a:r>
            <a:endParaRPr lang="en-US" sz="2200" dirty="0"/>
          </a:p>
        </p:txBody>
      </p:sp>
      <p:sp>
        <p:nvSpPr>
          <p:cNvPr id="4" name="Text 2"/>
          <p:cNvSpPr/>
          <p:nvPr/>
        </p:nvSpPr>
        <p:spPr>
          <a:xfrm>
            <a:off x="384048" y="429768"/>
            <a:ext cx="11430000" cy="237744"/>
          </a:xfrm>
          <a:prstGeom prst="rect">
            <a:avLst/>
          </a:prstGeom>
          <a:noFill/>
          <a:ln/>
        </p:spPr>
        <p:txBody>
          <a:bodyPr wrap="square" lIns="0" tIns="0" rIns="0" bIns="0" rtlCol="0" anchor="ctr"/>
          <a:lstStyle/>
          <a:p>
            <a:pPr indent="0" marL="0">
              <a:buNone/>
            </a:pPr>
            <a:r>
              <a:rPr lang="en-US" sz="1400" b="1" i="1" dirty="0">
                <a:solidFill>
                  <a:srgbClr val="FFFFFF"/>
                </a:solidFill>
                <a:latin typeface="Arial" pitchFamily="34" charset="0"/>
                <a:ea typeface="Arial" pitchFamily="34" charset="-122"/>
                <a:cs typeface="Arial" pitchFamily="34" charset="-120"/>
              </a:rPr>
              <a:t>[Date] — Eaton Sumter, SC</a:t>
            </a:r>
            <a:endParaRPr lang="en-US" sz="1400" dirty="0"/>
          </a:p>
        </p:txBody>
      </p:sp>
      <p:sp>
        <p:nvSpPr>
          <p:cNvPr id="5" name="Text 3"/>
          <p:cNvSpPr/>
          <p:nvPr/>
        </p:nvSpPr>
        <p:spPr>
          <a:xfrm>
            <a:off x="384048" y="658368"/>
            <a:ext cx="11430000" cy="228600"/>
          </a:xfrm>
          <a:prstGeom prst="rect">
            <a:avLst/>
          </a:prstGeom>
          <a:noFill/>
          <a:ln/>
        </p:spPr>
        <p:txBody>
          <a:bodyPr wrap="square" lIns="0" tIns="0" rIns="0" bIns="0" rtlCol="0" anchor="ctr"/>
          <a:lstStyle/>
          <a:p>
            <a:pPr indent="0" marL="0">
              <a:buNone/>
            </a:pPr>
            <a:r>
              <a:rPr lang="en-US" sz="1150" b="1" i="1" dirty="0">
                <a:solidFill>
                  <a:srgbClr val="FFFFFF"/>
                </a:solidFill>
                <a:latin typeface="Arial" pitchFamily="34" charset="0"/>
                <a:ea typeface="Arial" pitchFamily="34" charset="-122"/>
                <a:cs typeface="Arial" pitchFamily="34" charset="-120"/>
              </a:rPr>
              <a:t>All Press Brake Operators and Setup Personnel — All Shifts</a:t>
            </a:r>
            <a:pPr indent="0" marL="0">
              <a:buNone/>
            </a:pPr>
            <a:r>
              <a:rPr lang="en-US" sz="1150" b="1" i="1" dirty="0">
                <a:solidFill>
                  <a:srgbClr val="FFFFFF"/>
                </a:solidFill>
                <a:latin typeface="Arial" pitchFamily="34" charset="0"/>
                <a:ea typeface="Arial" pitchFamily="34" charset="-122"/>
                <a:cs typeface="Arial" pitchFamily="34" charset="-120"/>
              </a:rPr>
              <a:t>        EHS Site Contact: Charlie Ball, Sr. EHS Engineer        Page 2 of 2</a:t>
            </a:r>
            <a:endParaRPr lang="en-US" sz="1150" dirty="0"/>
          </a:p>
        </p:txBody>
      </p:sp>
      <p:sp>
        <p:nvSpPr>
          <p:cNvPr id="6" name="Shape 4"/>
          <p:cNvSpPr/>
          <p:nvPr/>
        </p:nvSpPr>
        <p:spPr>
          <a:xfrm>
            <a:off x="0" y="932688"/>
            <a:ext cx="12191695" cy="310896"/>
          </a:xfrm>
          <a:prstGeom prst="rect">
            <a:avLst/>
          </a:prstGeom>
          <a:solidFill>
            <a:srgbClr val="1F3864"/>
          </a:solidFill>
          <a:ln/>
        </p:spPr>
      </p:sp>
      <p:sp>
        <p:nvSpPr>
          <p:cNvPr id="7" name="Text 5"/>
          <p:cNvSpPr/>
          <p:nvPr/>
        </p:nvSpPr>
        <p:spPr>
          <a:xfrm>
            <a:off x="384048" y="932688"/>
            <a:ext cx="11430000" cy="310896"/>
          </a:xfrm>
          <a:prstGeom prst="rect">
            <a:avLst/>
          </a:prstGeom>
          <a:noFill/>
          <a:ln/>
        </p:spPr>
        <p:txBody>
          <a:bodyPr wrap="square" lIns="0" tIns="0" rIns="0" bIns="0" rtlCol="0" anchor="ctr"/>
          <a:lstStyle/>
          <a:p>
            <a:pPr indent="0" marL="0">
              <a:buNone/>
            </a:pPr>
            <a:r>
              <a:rPr lang="en-US" sz="1100" b="1" spc="60" kern="0" dirty="0">
                <a:solidFill>
                  <a:srgbClr val="FFFFFF"/>
                </a:solidFill>
                <a:latin typeface="Arial" pitchFamily="34" charset="0"/>
                <a:ea typeface="Arial" pitchFamily="34" charset="-122"/>
                <a:cs typeface="Arial" pitchFamily="34" charset="-120"/>
              </a:rPr>
              <a:t>POST AT EVERY PRESS BRAKE — STEEL FAB AND COPPER FAB, ALL SHIFTS</a:t>
            </a:r>
            <a:endParaRPr lang="en-US" sz="1100" dirty="0"/>
          </a:p>
        </p:txBody>
      </p:sp>
      <p:sp>
        <p:nvSpPr>
          <p:cNvPr id="8" name="Shape 6"/>
          <p:cNvSpPr/>
          <p:nvPr/>
        </p:nvSpPr>
        <p:spPr>
          <a:xfrm>
            <a:off x="411480" y="1444752"/>
            <a:ext cx="11375136" cy="749808"/>
          </a:xfrm>
          <a:prstGeom prst="rect">
            <a:avLst/>
          </a:prstGeom>
          <a:solidFill>
            <a:srgbClr val="FFFFFF"/>
          </a:solidFill>
          <a:ln w="25400">
            <a:solidFill>
              <a:srgbClr val="000000"/>
            </a:solidFill>
            <a:prstDash val="solid"/>
          </a:ln>
        </p:spPr>
      </p:sp>
      <p:sp>
        <p:nvSpPr>
          <p:cNvPr id="9" name="Text 7"/>
          <p:cNvSpPr/>
          <p:nvPr/>
        </p:nvSpPr>
        <p:spPr>
          <a:xfrm>
            <a:off x="603504" y="1517904"/>
            <a:ext cx="10972800" cy="310896"/>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Keep your hands more than 3 inches from the die. Setup, bend, and part removal.</a:t>
            </a:r>
            <a:endParaRPr lang="en-US" sz="1700" dirty="0"/>
          </a:p>
        </p:txBody>
      </p:sp>
      <p:sp>
        <p:nvSpPr>
          <p:cNvPr id="10" name="Text 8"/>
          <p:cNvSpPr/>
          <p:nvPr/>
        </p:nvSpPr>
        <p:spPr>
          <a:xfrm>
            <a:off x="603504" y="1828800"/>
            <a:ext cx="10972800" cy="256032"/>
          </a:xfrm>
          <a:prstGeom prst="rect">
            <a:avLst/>
          </a:prstGeom>
          <a:noFill/>
          <a:ln/>
        </p:spPr>
        <p:txBody>
          <a:bodyPr wrap="square" lIns="0" tIns="0" rIns="0" bIns="0" rtlCol="0" anchor="ctr"/>
          <a:lstStyle/>
          <a:p>
            <a:pPr indent="0" marL="0">
              <a:buNone/>
            </a:pPr>
            <a:r>
              <a:rPr lang="en-US" sz="1200" dirty="0">
                <a:solidFill>
                  <a:srgbClr val="000000"/>
                </a:solidFill>
                <a:latin typeface="Arial" pitchFamily="34" charset="0"/>
                <a:ea typeface="Arial" pitchFamily="34" charset="-122"/>
                <a:cs typeface="Arial" pitchFamily="34" charset="-120"/>
              </a:rPr>
              <a:t>There are four approved methods for running a part without a hand in the pinch point. Use one of them on every part.</a:t>
            </a:r>
            <a:endParaRPr lang="en-US" sz="1200" dirty="0"/>
          </a:p>
        </p:txBody>
      </p:sp>
      <p:sp>
        <p:nvSpPr>
          <p:cNvPr id="11" name="Shape 9"/>
          <p:cNvSpPr/>
          <p:nvPr/>
        </p:nvSpPr>
        <p:spPr>
          <a:xfrm>
            <a:off x="411480" y="2359152"/>
            <a:ext cx="2715768" cy="1481328"/>
          </a:xfrm>
          <a:prstGeom prst="rect">
            <a:avLst/>
          </a:prstGeom>
          <a:solidFill>
            <a:srgbClr val="EDF1F9"/>
          </a:solidFill>
          <a:ln w="12700">
            <a:solidFill>
              <a:srgbClr val="A6A6A6"/>
            </a:solidFill>
            <a:prstDash val="solid"/>
          </a:ln>
        </p:spPr>
      </p:sp>
      <p:sp>
        <p:nvSpPr>
          <p:cNvPr id="12" name="Text 10"/>
          <p:cNvSpPr/>
          <p:nvPr/>
        </p:nvSpPr>
        <p:spPr>
          <a:xfrm>
            <a:off x="557784" y="2432304"/>
            <a:ext cx="548640" cy="274320"/>
          </a:xfrm>
          <a:prstGeom prst="rect">
            <a:avLst/>
          </a:prstGeom>
          <a:noFill/>
          <a:ln/>
        </p:spPr>
        <p:txBody>
          <a:bodyPr wrap="square" lIns="0" tIns="0" rIns="0" bIns="0" rtlCol="0" anchor="ctr"/>
          <a:lstStyle/>
          <a:p>
            <a:pPr indent="0" marL="0">
              <a:buNone/>
            </a:pPr>
            <a:r>
              <a:rPr lang="en-US" sz="1800" b="1" dirty="0">
                <a:solidFill>
                  <a:srgbClr val="4472C4"/>
                </a:solidFill>
                <a:latin typeface="Arial" pitchFamily="34" charset="0"/>
                <a:ea typeface="Arial" pitchFamily="34" charset="-122"/>
                <a:cs typeface="Arial" pitchFamily="34" charset="-120"/>
              </a:rPr>
              <a:t>1</a:t>
            </a:r>
            <a:endParaRPr lang="en-US" sz="1800" dirty="0"/>
          </a:p>
        </p:txBody>
      </p:sp>
      <p:sp>
        <p:nvSpPr>
          <p:cNvPr id="13" name="Text 11"/>
          <p:cNvSpPr/>
          <p:nvPr/>
        </p:nvSpPr>
        <p:spPr>
          <a:xfrm>
            <a:off x="557784" y="2706624"/>
            <a:ext cx="2423160" cy="237744"/>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Magnet</a:t>
            </a:r>
            <a:endParaRPr lang="en-US" sz="1300" dirty="0"/>
          </a:p>
        </p:txBody>
      </p:sp>
      <p:sp>
        <p:nvSpPr>
          <p:cNvPr id="14" name="Text 12"/>
          <p:cNvSpPr/>
          <p:nvPr/>
        </p:nvSpPr>
        <p:spPr>
          <a:xfrm>
            <a:off x="557784" y="2962656"/>
            <a:ext cx="2423160" cy="804672"/>
          </a:xfrm>
          <a:prstGeom prst="rect">
            <a:avLst/>
          </a:prstGeom>
          <a:noFill/>
          <a:ln/>
        </p:spPr>
        <p:txBody>
          <a:bodyPr wrap="square" lIns="0" tIns="0" rIns="0" bIns="0" rtlCol="0" anchor="t"/>
          <a:lstStyle/>
          <a:p>
            <a:pPr indent="0" marL="0">
              <a:lnSpc>
                <a:spcPct val="94000"/>
              </a:lnSpc>
              <a:spcAft>
                <a:spcPts val="300"/>
              </a:spcAft>
              <a:buNone/>
            </a:pPr>
            <a:r>
              <a:rPr lang="en-US" sz="950" dirty="0">
                <a:solidFill>
                  <a:srgbClr val="000000"/>
                </a:solidFill>
                <a:latin typeface="Arial" pitchFamily="34" charset="0"/>
                <a:ea typeface="Arial" pitchFamily="34" charset="-122"/>
                <a:cs typeface="Arial" pitchFamily="34" charset="-120"/>
              </a:rPr>
              <a:t>Set the part on the magnet mounted on the back of the bottom die instead of holding it.</a:t>
            </a:r>
            <a:endParaRPr lang="en-US" sz="950" dirty="0"/>
          </a:p>
          <a:p>
            <a:pPr indent="0" marL="0">
              <a:lnSpc>
                <a:spcPct val="94000"/>
              </a:lnSpc>
              <a:spcAft>
                <a:spcPts val="300"/>
              </a:spcAft>
              <a:buNone/>
            </a:pPr>
            <a:r>
              <a:rPr lang="en-US" sz="950" b="1" dirty="0">
                <a:solidFill>
                  <a:srgbClr val="000000"/>
                </a:solidFill>
                <a:latin typeface="Arial" pitchFamily="34" charset="0"/>
                <a:ea typeface="Arial" pitchFamily="34" charset="-122"/>
                <a:cs typeface="Arial" pitchFamily="34" charset="-120"/>
              </a:rPr>
              <a:t>Does not hold copper.</a:t>
            </a:r>
            <a:endParaRPr lang="en-US" sz="950" dirty="0"/>
          </a:p>
        </p:txBody>
      </p:sp>
      <p:sp>
        <p:nvSpPr>
          <p:cNvPr id="15" name="Shape 13"/>
          <p:cNvSpPr/>
          <p:nvPr/>
        </p:nvSpPr>
        <p:spPr>
          <a:xfrm>
            <a:off x="3300984" y="2359152"/>
            <a:ext cx="2715768" cy="1481328"/>
          </a:xfrm>
          <a:prstGeom prst="rect">
            <a:avLst/>
          </a:prstGeom>
          <a:solidFill>
            <a:srgbClr val="EDF1F9"/>
          </a:solidFill>
          <a:ln w="12700">
            <a:solidFill>
              <a:srgbClr val="A6A6A6"/>
            </a:solidFill>
            <a:prstDash val="solid"/>
          </a:ln>
        </p:spPr>
      </p:sp>
      <p:sp>
        <p:nvSpPr>
          <p:cNvPr id="16" name="Text 14"/>
          <p:cNvSpPr/>
          <p:nvPr/>
        </p:nvSpPr>
        <p:spPr>
          <a:xfrm>
            <a:off x="3447288" y="2432304"/>
            <a:ext cx="548640" cy="274320"/>
          </a:xfrm>
          <a:prstGeom prst="rect">
            <a:avLst/>
          </a:prstGeom>
          <a:noFill/>
          <a:ln/>
        </p:spPr>
        <p:txBody>
          <a:bodyPr wrap="square" lIns="0" tIns="0" rIns="0" bIns="0" rtlCol="0" anchor="ctr"/>
          <a:lstStyle/>
          <a:p>
            <a:pPr indent="0" marL="0">
              <a:buNone/>
            </a:pPr>
            <a:r>
              <a:rPr lang="en-US" sz="1800" b="1" dirty="0">
                <a:solidFill>
                  <a:srgbClr val="4472C4"/>
                </a:solidFill>
                <a:latin typeface="Arial" pitchFamily="34" charset="0"/>
                <a:ea typeface="Arial" pitchFamily="34" charset="-122"/>
                <a:cs typeface="Arial" pitchFamily="34" charset="-120"/>
              </a:rPr>
              <a:t>2</a:t>
            </a:r>
            <a:endParaRPr lang="en-US" sz="1800" dirty="0"/>
          </a:p>
        </p:txBody>
      </p:sp>
      <p:sp>
        <p:nvSpPr>
          <p:cNvPr id="17" name="Text 15"/>
          <p:cNvSpPr/>
          <p:nvPr/>
        </p:nvSpPr>
        <p:spPr>
          <a:xfrm>
            <a:off x="3447288" y="2706624"/>
            <a:ext cx="2423160" cy="237744"/>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Orange Push Bar</a:t>
            </a:r>
            <a:endParaRPr lang="en-US" sz="1300" dirty="0"/>
          </a:p>
        </p:txBody>
      </p:sp>
      <p:sp>
        <p:nvSpPr>
          <p:cNvPr id="18" name="Text 16"/>
          <p:cNvSpPr/>
          <p:nvPr/>
        </p:nvSpPr>
        <p:spPr>
          <a:xfrm>
            <a:off x="3447288" y="2962656"/>
            <a:ext cx="2423160" cy="804672"/>
          </a:xfrm>
          <a:prstGeom prst="rect">
            <a:avLst/>
          </a:prstGeom>
          <a:noFill/>
          <a:ln/>
        </p:spPr>
        <p:txBody>
          <a:bodyPr wrap="square" lIns="0" tIns="0" rIns="0" bIns="0" rtlCol="0" anchor="t"/>
          <a:lstStyle/>
          <a:p>
            <a:pPr indent="0" marL="0">
              <a:lnSpc>
                <a:spcPct val="94000"/>
              </a:lnSpc>
              <a:spcAft>
                <a:spcPts val="300"/>
              </a:spcAft>
              <a:buNone/>
            </a:pPr>
            <a:r>
              <a:rPr lang="en-US" sz="950" dirty="0">
                <a:solidFill>
                  <a:srgbClr val="000000"/>
                </a:solidFill>
                <a:latin typeface="Arial" pitchFamily="34" charset="0"/>
                <a:ea typeface="Arial" pitchFamily="34" charset="-122"/>
                <a:cs typeface="Arial" pitchFamily="34" charset="-120"/>
              </a:rPr>
              <a:t>Feed, seat, and position the part with the bar rather than your fingers.</a:t>
            </a:r>
            <a:endParaRPr lang="en-US" sz="950" dirty="0"/>
          </a:p>
        </p:txBody>
      </p:sp>
      <p:sp>
        <p:nvSpPr>
          <p:cNvPr id="19" name="Shape 17"/>
          <p:cNvSpPr/>
          <p:nvPr/>
        </p:nvSpPr>
        <p:spPr>
          <a:xfrm>
            <a:off x="6190488" y="2359152"/>
            <a:ext cx="2715768" cy="1481328"/>
          </a:xfrm>
          <a:prstGeom prst="rect">
            <a:avLst/>
          </a:prstGeom>
          <a:solidFill>
            <a:srgbClr val="EDF1F9"/>
          </a:solidFill>
          <a:ln w="12700">
            <a:solidFill>
              <a:srgbClr val="A6A6A6"/>
            </a:solidFill>
            <a:prstDash val="solid"/>
          </a:ln>
        </p:spPr>
      </p:sp>
      <p:sp>
        <p:nvSpPr>
          <p:cNvPr id="20" name="Text 18"/>
          <p:cNvSpPr/>
          <p:nvPr/>
        </p:nvSpPr>
        <p:spPr>
          <a:xfrm>
            <a:off x="6336792" y="2432304"/>
            <a:ext cx="548640" cy="274320"/>
          </a:xfrm>
          <a:prstGeom prst="rect">
            <a:avLst/>
          </a:prstGeom>
          <a:noFill/>
          <a:ln/>
        </p:spPr>
        <p:txBody>
          <a:bodyPr wrap="square" lIns="0" tIns="0" rIns="0" bIns="0" rtlCol="0" anchor="ctr"/>
          <a:lstStyle/>
          <a:p>
            <a:pPr indent="0" marL="0">
              <a:buNone/>
            </a:pPr>
            <a:r>
              <a:rPr lang="en-US" sz="1800" b="1" dirty="0">
                <a:solidFill>
                  <a:srgbClr val="4472C4"/>
                </a:solidFill>
                <a:latin typeface="Arial" pitchFamily="34" charset="0"/>
                <a:ea typeface="Arial" pitchFamily="34" charset="-122"/>
                <a:cs typeface="Arial" pitchFamily="34" charset="-120"/>
              </a:rPr>
              <a:t>3</a:t>
            </a:r>
            <a:endParaRPr lang="en-US" sz="1800" dirty="0"/>
          </a:p>
        </p:txBody>
      </p:sp>
      <p:sp>
        <p:nvSpPr>
          <p:cNvPr id="21" name="Text 19"/>
          <p:cNvSpPr/>
          <p:nvPr/>
        </p:nvSpPr>
        <p:spPr>
          <a:xfrm>
            <a:off x="6336792" y="2706624"/>
            <a:ext cx="2423160" cy="237744"/>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Tongs</a:t>
            </a:r>
            <a:endParaRPr lang="en-US" sz="1300" dirty="0"/>
          </a:p>
        </p:txBody>
      </p:sp>
      <p:sp>
        <p:nvSpPr>
          <p:cNvPr id="22" name="Text 20"/>
          <p:cNvSpPr/>
          <p:nvPr/>
        </p:nvSpPr>
        <p:spPr>
          <a:xfrm>
            <a:off x="6336792" y="2962656"/>
            <a:ext cx="2423160" cy="804672"/>
          </a:xfrm>
          <a:prstGeom prst="rect">
            <a:avLst/>
          </a:prstGeom>
          <a:noFill/>
          <a:ln/>
        </p:spPr>
        <p:txBody>
          <a:bodyPr wrap="square" lIns="0" tIns="0" rIns="0" bIns="0" rtlCol="0" anchor="t"/>
          <a:lstStyle/>
          <a:p>
            <a:pPr indent="0" marL="0">
              <a:lnSpc>
                <a:spcPct val="94000"/>
              </a:lnSpc>
              <a:spcAft>
                <a:spcPts val="300"/>
              </a:spcAft>
              <a:buNone/>
            </a:pPr>
            <a:r>
              <a:rPr lang="en-US" sz="950" dirty="0">
                <a:solidFill>
                  <a:srgbClr val="000000"/>
                </a:solidFill>
                <a:latin typeface="Arial" pitchFamily="34" charset="0"/>
                <a:ea typeface="Arial" pitchFamily="34" charset="-122"/>
                <a:cs typeface="Arial" pitchFamily="34" charset="-120"/>
              </a:rPr>
              <a:t>Grip and hold the part. Best method for W-channel and U-channel parts.</a:t>
            </a:r>
            <a:endParaRPr lang="en-US" sz="950" dirty="0"/>
          </a:p>
        </p:txBody>
      </p:sp>
      <p:sp>
        <p:nvSpPr>
          <p:cNvPr id="23" name="Shape 21"/>
          <p:cNvSpPr/>
          <p:nvPr/>
        </p:nvSpPr>
        <p:spPr>
          <a:xfrm>
            <a:off x="9079992" y="2359152"/>
            <a:ext cx="2715768" cy="1481328"/>
          </a:xfrm>
          <a:prstGeom prst="rect">
            <a:avLst/>
          </a:prstGeom>
          <a:solidFill>
            <a:srgbClr val="EDF1F9"/>
          </a:solidFill>
          <a:ln w="12700">
            <a:solidFill>
              <a:srgbClr val="A6A6A6"/>
            </a:solidFill>
            <a:prstDash val="solid"/>
          </a:ln>
        </p:spPr>
      </p:sp>
      <p:sp>
        <p:nvSpPr>
          <p:cNvPr id="24" name="Text 22"/>
          <p:cNvSpPr/>
          <p:nvPr/>
        </p:nvSpPr>
        <p:spPr>
          <a:xfrm>
            <a:off x="9226296" y="2432304"/>
            <a:ext cx="548640" cy="274320"/>
          </a:xfrm>
          <a:prstGeom prst="rect">
            <a:avLst/>
          </a:prstGeom>
          <a:noFill/>
          <a:ln/>
        </p:spPr>
        <p:txBody>
          <a:bodyPr wrap="square" lIns="0" tIns="0" rIns="0" bIns="0" rtlCol="0" anchor="ctr"/>
          <a:lstStyle/>
          <a:p>
            <a:pPr indent="0" marL="0">
              <a:buNone/>
            </a:pPr>
            <a:r>
              <a:rPr lang="en-US" sz="1800" b="1" dirty="0">
                <a:solidFill>
                  <a:srgbClr val="4472C4"/>
                </a:solidFill>
                <a:latin typeface="Arial" pitchFamily="34" charset="0"/>
                <a:ea typeface="Arial" pitchFamily="34" charset="-122"/>
                <a:cs typeface="Arial" pitchFamily="34" charset="-120"/>
              </a:rPr>
              <a:t>4</a:t>
            </a:r>
            <a:endParaRPr lang="en-US" sz="1800" dirty="0"/>
          </a:p>
        </p:txBody>
      </p:sp>
      <p:sp>
        <p:nvSpPr>
          <p:cNvPr id="25" name="Text 23"/>
          <p:cNvSpPr/>
          <p:nvPr/>
        </p:nvSpPr>
        <p:spPr>
          <a:xfrm>
            <a:off x="9226296" y="2706624"/>
            <a:ext cx="2423160" cy="237744"/>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Ram Down First</a:t>
            </a:r>
            <a:endParaRPr lang="en-US" sz="1300" dirty="0"/>
          </a:p>
        </p:txBody>
      </p:sp>
      <p:sp>
        <p:nvSpPr>
          <p:cNvPr id="26" name="Text 24"/>
          <p:cNvSpPr/>
          <p:nvPr/>
        </p:nvSpPr>
        <p:spPr>
          <a:xfrm>
            <a:off x="9226296" y="2962656"/>
            <a:ext cx="2423160" cy="804672"/>
          </a:xfrm>
          <a:prstGeom prst="rect">
            <a:avLst/>
          </a:prstGeom>
          <a:noFill/>
          <a:ln/>
        </p:spPr>
        <p:txBody>
          <a:bodyPr wrap="square" lIns="0" tIns="0" rIns="0" bIns="0" rtlCol="0" anchor="t"/>
          <a:lstStyle/>
          <a:p>
            <a:pPr indent="0" marL="0">
              <a:lnSpc>
                <a:spcPct val="94000"/>
              </a:lnSpc>
              <a:spcAft>
                <a:spcPts val="300"/>
              </a:spcAft>
              <a:buNone/>
            </a:pPr>
            <a:r>
              <a:rPr lang="en-US" sz="950" dirty="0">
                <a:solidFill>
                  <a:srgbClr val="000000"/>
                </a:solidFill>
                <a:latin typeface="Arial" pitchFamily="34" charset="0"/>
                <a:ea typeface="Arial" pitchFamily="34" charset="-122"/>
                <a:cs typeface="Arial" pitchFamily="34" charset="-120"/>
              </a:rPr>
              <a:t>Lower the ram until it holds the part against the die, take your hands off, then complete the bend. The press holds the part instead of your hand.</a:t>
            </a:r>
            <a:endParaRPr lang="en-US" sz="950" dirty="0"/>
          </a:p>
        </p:txBody>
      </p:sp>
      <p:sp>
        <p:nvSpPr>
          <p:cNvPr id="27" name="Shape 25"/>
          <p:cNvSpPr/>
          <p:nvPr/>
        </p:nvSpPr>
        <p:spPr>
          <a:xfrm>
            <a:off x="411480" y="4023360"/>
            <a:ext cx="11375136" cy="1188720"/>
          </a:xfrm>
          <a:prstGeom prst="rect">
            <a:avLst/>
          </a:prstGeom>
          <a:solidFill>
            <a:srgbClr val="F4F4F4"/>
          </a:solidFill>
          <a:ln w="12700">
            <a:solidFill>
              <a:srgbClr val="909090"/>
            </a:solidFill>
            <a:prstDash val="dash"/>
          </a:ln>
        </p:spPr>
      </p:sp>
      <p:sp>
        <p:nvSpPr>
          <p:cNvPr id="28" name="Text 26"/>
          <p:cNvSpPr/>
          <p:nvPr/>
        </p:nvSpPr>
        <p:spPr>
          <a:xfrm>
            <a:off x="411480" y="4023360"/>
            <a:ext cx="11375136" cy="1188720"/>
          </a:xfrm>
          <a:prstGeom prst="rect">
            <a:avLst/>
          </a:prstGeom>
          <a:noFill/>
          <a:ln/>
        </p:spPr>
        <p:txBody>
          <a:bodyPr wrap="square" lIns="0" tIns="0" rIns="0" bIns="0" rtlCol="0" anchor="ctr"/>
          <a:lstStyle/>
          <a:p>
            <a:pPr algn="ctr" indent="0" marL="0">
              <a:buNone/>
            </a:pPr>
            <a:r>
              <a:rPr lang="en-US" sz="1100" dirty="0">
                <a:solidFill>
                  <a:srgbClr val="777777"/>
                </a:solidFill>
                <a:latin typeface="Arial" pitchFamily="34" charset="0"/>
                <a:ea typeface="Arial" pitchFamily="34" charset="-122"/>
                <a:cs typeface="Arial" pitchFamily="34" charset="-120"/>
              </a:rPr>
              <a:t>Photo — the three approved hand tools, left to right: magnet, orange push bar, tongs</a:t>
            </a:r>
            <a:endParaRPr lang="en-US" sz="1100" dirty="0"/>
          </a:p>
        </p:txBody>
      </p:sp>
      <p:sp>
        <p:nvSpPr>
          <p:cNvPr id="29" name="Shape 27"/>
          <p:cNvSpPr/>
          <p:nvPr/>
        </p:nvSpPr>
        <p:spPr>
          <a:xfrm>
            <a:off x="411480" y="5340096"/>
            <a:ext cx="11375136" cy="877824"/>
          </a:xfrm>
          <a:prstGeom prst="rect">
            <a:avLst/>
          </a:prstGeom>
          <a:solidFill>
            <a:srgbClr val="FFFFFF"/>
          </a:solidFill>
          <a:ln w="25400">
            <a:solidFill>
              <a:srgbClr val="000000"/>
            </a:solidFill>
            <a:prstDash val="solid"/>
          </a:ln>
        </p:spPr>
      </p:sp>
      <p:sp>
        <p:nvSpPr>
          <p:cNvPr id="30" name="Text 28"/>
          <p:cNvSpPr/>
          <p:nvPr/>
        </p:nvSpPr>
        <p:spPr>
          <a:xfrm>
            <a:off x="603504" y="5413248"/>
            <a:ext cx="3657600" cy="219456"/>
          </a:xfrm>
          <a:prstGeom prst="rect">
            <a:avLst/>
          </a:prstGeom>
          <a:noFill/>
          <a:ln/>
        </p:spPr>
        <p:txBody>
          <a:bodyPr wrap="square" lIns="0" tIns="0" rIns="0" bIns="0" rtlCol="0" anchor="ctr"/>
          <a:lstStyle/>
          <a:p>
            <a:pPr indent="0" marL="0">
              <a:buNone/>
            </a:pPr>
            <a:r>
              <a:rPr lang="en-US" sz="1150" b="1" i="1" u="sng" dirty="0">
                <a:solidFill>
                  <a:srgbClr val="000000"/>
                </a:solidFill>
                <a:latin typeface="Arial" pitchFamily="34" charset="0"/>
                <a:ea typeface="Arial" pitchFamily="34" charset="-122"/>
                <a:cs typeface="Arial" pitchFamily="34" charset="-120"/>
              </a:rPr>
              <a:t>Verification:</a:t>
            </a:r>
            <a:endParaRPr lang="en-US" sz="1150" dirty="0"/>
          </a:p>
        </p:txBody>
      </p:sp>
      <p:sp>
        <p:nvSpPr>
          <p:cNvPr id="31" name="Text 29"/>
          <p:cNvSpPr/>
          <p:nvPr/>
        </p:nvSpPr>
        <p:spPr>
          <a:xfrm>
            <a:off x="603504" y="5650992"/>
            <a:ext cx="10972800" cy="512064"/>
          </a:xfrm>
          <a:prstGeom prst="rect">
            <a:avLst/>
          </a:prstGeom>
          <a:noFill/>
          <a:ln/>
        </p:spPr>
        <p:txBody>
          <a:bodyPr wrap="square" lIns="0" tIns="0" rIns="0" bIns="0" rtlCol="0" anchor="t"/>
          <a:lstStyle/>
          <a:p>
            <a:pPr indent="0" marL="0">
              <a:lnSpc>
                <a:spcPct val="95000"/>
              </a:lnSpc>
              <a:spcAft>
                <a:spcPts val="300"/>
              </a:spcAft>
              <a:buNone/>
            </a:pPr>
            <a:r>
              <a:rPr lang="en-US" sz="1050" dirty="0">
                <a:solidFill>
                  <a:srgbClr val="000000"/>
                </a:solidFill>
                <a:latin typeface="Arial" pitchFamily="34" charset="0"/>
                <a:ea typeface="Arial" pitchFamily="34" charset="-122"/>
                <a:cs typeface="Arial" pitchFamily="34" charset="-120"/>
              </a:rPr>
              <a:t>EHS and area supervisors will conduct </a:t>
            </a:r>
            <a:pPr indent="0" marL="0">
              <a:lnSpc>
                <a:spcPct val="95000"/>
              </a:lnSpc>
              <a:spcAft>
                <a:spcPts val="300"/>
              </a:spcAft>
              <a:buNone/>
            </a:pPr>
            <a:r>
              <a:rPr lang="en-US" sz="1050" b="1" dirty="0">
                <a:solidFill>
                  <a:srgbClr val="000000"/>
                </a:solidFill>
                <a:latin typeface="Arial" pitchFamily="34" charset="0"/>
                <a:ea typeface="Arial" pitchFamily="34" charset="-122"/>
                <a:cs typeface="Arial" pitchFamily="34" charset="-120"/>
              </a:rPr>
              <a:t>random audits of press brake operations on all shifts</a:t>
            </a:r>
            <a:pPr indent="0" marL="0">
              <a:lnSpc>
                <a:spcPct val="95000"/>
              </a:lnSpc>
              <a:spcAft>
                <a:spcPts val="300"/>
              </a:spcAft>
              <a:buNone/>
            </a:pPr>
            <a:r>
              <a:rPr lang="en-US" sz="1050" dirty="0">
                <a:solidFill>
                  <a:srgbClr val="000000"/>
                </a:solidFill>
                <a:latin typeface="Arial" pitchFamily="34" charset="0"/>
                <a:ea typeface="Arial" pitchFamily="34" charset="-122"/>
                <a:cs typeface="Arial" pitchFamily="34" charset="-120"/>
              </a:rPr>
              <a:t> to verify that one of the four approved methods is being used.</a:t>
            </a:r>
            <a:endParaRPr lang="en-US" sz="1050" dirty="0"/>
          </a:p>
          <a:p>
            <a:pPr indent="0" marL="0">
              <a:lnSpc>
                <a:spcPct val="95000"/>
              </a:lnSpc>
              <a:spcAft>
                <a:spcPts val="300"/>
              </a:spcAft>
              <a:buNone/>
            </a:pPr>
            <a:r>
              <a:rPr lang="en-US" sz="1050" dirty="0">
                <a:solidFill>
                  <a:srgbClr val="000000"/>
                </a:solidFill>
                <a:latin typeface="Arial" pitchFamily="34" charset="0"/>
                <a:ea typeface="Arial" pitchFamily="34" charset="-122"/>
                <a:cs typeface="Arial" pitchFamily="34" charset="-120"/>
              </a:rPr>
              <a:t>If a part cannot be run using one of these four methods, stop. Back the ram off, re-fixture the part, or get your supervisor. A part that does not fit the approved methods is a problem to raise before it runs — it is not a reason to run it by hand.</a:t>
            </a:r>
            <a:endParaRPr lang="en-US" sz="1050" dirty="0"/>
          </a:p>
        </p:txBody>
      </p:sp>
      <p:sp>
        <p:nvSpPr>
          <p:cNvPr id="32" name="Text 30"/>
          <p:cNvSpPr/>
          <p:nvPr/>
        </p:nvSpPr>
        <p:spPr>
          <a:xfrm>
            <a:off x="384048" y="6327648"/>
            <a:ext cx="2011680" cy="329184"/>
          </a:xfrm>
          <a:prstGeom prst="rect">
            <a:avLst/>
          </a:prstGeom>
          <a:noFill/>
          <a:ln/>
        </p:spPr>
        <p:txBody>
          <a:bodyPr wrap="square" lIns="0" tIns="0" rIns="0" bIns="0" rtlCol="0" anchor="ctr"/>
          <a:lstStyle/>
          <a:p>
            <a:pPr indent="0" marL="0">
              <a:buNone/>
            </a:pPr>
            <a:r>
              <a:rPr lang="en-US" sz="1600" b="1" spc="100" kern="0" dirty="0">
                <a:solidFill>
                  <a:srgbClr val="0072CE"/>
                </a:solidFill>
                <a:latin typeface="Arial" pitchFamily="34" charset="0"/>
                <a:ea typeface="Arial" pitchFamily="34" charset="-122"/>
                <a:cs typeface="Arial" pitchFamily="34" charset="-120"/>
              </a:rPr>
              <a:t>E·A·T·N</a:t>
            </a:r>
            <a:endParaRPr lang="en-US" sz="1600" dirty="0"/>
          </a:p>
        </p:txBody>
      </p:sp>
      <p:sp>
        <p:nvSpPr>
          <p:cNvPr id="33" name="Text 31"/>
          <p:cNvSpPr/>
          <p:nvPr/>
        </p:nvSpPr>
        <p:spPr>
          <a:xfrm>
            <a:off x="4023360" y="6327648"/>
            <a:ext cx="4114800" cy="329184"/>
          </a:xfrm>
          <a:prstGeom prst="rect">
            <a:avLst/>
          </a:prstGeom>
          <a:noFill/>
          <a:ln/>
        </p:spPr>
        <p:txBody>
          <a:bodyPr wrap="square" lIns="0" tIns="0" rIns="0" bIns="0" rtlCol="0" anchor="ctr"/>
          <a:lstStyle/>
          <a:p>
            <a:pPr algn="ctr" indent="0" marL="0">
              <a:buNone/>
            </a:pPr>
            <a:r>
              <a:rPr lang="en-US" sz="1000" dirty="0">
                <a:solidFill>
                  <a:srgbClr val="444444"/>
                </a:solidFill>
                <a:latin typeface="Arial" pitchFamily="34" charset="0"/>
                <a:ea typeface="Arial" pitchFamily="34" charset="-122"/>
                <a:cs typeface="Arial" pitchFamily="34" charset="-120"/>
              </a:rPr>
              <a:t>© 2026 Eaton. All Rights Reserved.</a:t>
            </a:r>
            <a:endParaRPr lang="en-US" sz="1000" dirty="0"/>
          </a:p>
        </p:txBody>
      </p:sp>
      <p:sp>
        <p:nvSpPr>
          <p:cNvPr id="34" name="Shape 32"/>
          <p:cNvSpPr/>
          <p:nvPr/>
        </p:nvSpPr>
        <p:spPr>
          <a:xfrm>
            <a:off x="8641080" y="6364224"/>
            <a:ext cx="3154680" cy="274320"/>
          </a:xfrm>
          <a:prstGeom prst="rect">
            <a:avLst/>
          </a:prstGeom>
          <a:solidFill>
            <a:srgbClr val="1F3864"/>
          </a:solidFill>
          <a:ln/>
        </p:spPr>
      </p:sp>
      <p:sp>
        <p:nvSpPr>
          <p:cNvPr id="35" name="Text 33"/>
          <p:cNvSpPr/>
          <p:nvPr/>
        </p:nvSpPr>
        <p:spPr>
          <a:xfrm>
            <a:off x="8641080" y="6364224"/>
            <a:ext cx="3154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Environment, Health &amp; Safety Lessons Learned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Press Brake Hand Placement — EHS Lessons Learned</dc:title>
  <dc:subject>PptxGenJS Presentation</dc:subject>
  <dc:creator>Charlie Ball, EHS</dc:creator>
  <cp:lastModifiedBy>Charlie Ball, EHS</cp:lastModifiedBy>
  <cp:revision>1</cp:revision>
  <dcterms:created xsi:type="dcterms:W3CDTF">2026-08-04T11:23:48Z</dcterms:created>
  <dcterms:modified xsi:type="dcterms:W3CDTF">2026-08-04T11:23:48Z</dcterms:modified>
</cp:coreProperties>
</file>